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0F1A2E"/>
                </a:solidFill>
                <a:latin typeface="Arial"/>
              </a:defRPr>
            </a:pPr>
            <a:r>
              <a:rPr sz="1200" b="0" i="0" u="none" strike="noStrike">
                <a:solidFill>
                  <a:srgbClr val="0F1A2E"/>
                </a:solidFill>
                <a:latin typeface="Arial"/>
              </a:rPr>
              <a:t>Vouchers by meal type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Vouchers</c:v>
                </c:pt>
              </c:strCache>
            </c:strRef>
          </c:tx>
          <c:spPr>
            <a:solidFill>
              <a:srgbClr val="2F6BF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0F1A2E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2F6BF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2274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7A2BB8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Lunch</c:v>
                  </c:pt>
                  <c:pt idx="1">
                    <c:v>Dinner</c:v>
                  </c:pt>
                  <c:pt idx="2">
                    <c:v>Stadium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78</c:v>
                </c:pt>
                <c:pt idx="1">
                  <c:v>41</c:v>
                </c:pt>
                <c:pt idx="2">
                  <c:v>23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0F1A2E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C6A7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27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509760" y="-1280160"/>
            <a:ext cx="4206240" cy="4206240"/>
          </a:xfrm>
          <a:prstGeom prst="ellipse">
            <a:avLst/>
          </a:prstGeom>
          <a:solidFill>
            <a:srgbClr val="1E3A6B"/>
          </a:solidFill>
          <a:ln/>
        </p:spPr>
      </p:sp>
      <p:sp>
        <p:nvSpPr>
          <p:cNvPr id="3" name="Shape 1"/>
          <p:cNvSpPr/>
          <p:nvPr/>
        </p:nvSpPr>
        <p:spPr>
          <a:xfrm>
            <a:off x="10698480" y="4206240"/>
            <a:ext cx="3108960" cy="3108960"/>
          </a:xfrm>
          <a:prstGeom prst="ellipse">
            <a:avLst/>
          </a:prstGeom>
          <a:solidFill>
            <a:srgbClr val="16305C"/>
          </a:solidFill>
          <a:ln/>
        </p:spPr>
      </p:sp>
      <p:sp>
        <p:nvSpPr>
          <p:cNvPr id="4" name="Shape 2"/>
          <p:cNvSpPr/>
          <p:nvPr/>
        </p:nvSpPr>
        <p:spPr>
          <a:xfrm>
            <a:off x="8869680" y="1920240"/>
            <a:ext cx="1737360" cy="1737360"/>
          </a:xfrm>
          <a:prstGeom prst="roundRect">
            <a:avLst>
              <a:gd name="adj" fmla="val 22105"/>
            </a:avLst>
          </a:prstGeom>
          <a:solidFill>
            <a:srgbClr val="2F6BFF"/>
          </a:solidFill>
          <a:ln/>
          <a:effectLst>
            <a:outerShdw sx="100000" sy="100000" kx="0" ky="0" algn="bl" rotWithShape="0" blurRad="114300" dist="38100" dir="5400000">
              <a:srgbClr val="0F1A2E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235440" y="2578608"/>
            <a:ext cx="1005840" cy="475488"/>
          </a:xfrm>
          <a:prstGeom prst="roundRect">
            <a:avLst>
              <a:gd name="adj" fmla="val 19231"/>
            </a:avLst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9628632" y="2468880"/>
            <a:ext cx="219456" cy="219456"/>
          </a:xfrm>
          <a:prstGeom prst="ellipse">
            <a:avLst/>
          </a:prstGeom>
          <a:solidFill>
            <a:srgbClr val="2F6BFF"/>
          </a:solidFill>
          <a:ln/>
        </p:spPr>
      </p:sp>
      <p:sp>
        <p:nvSpPr>
          <p:cNvPr id="7" name="Shape 5"/>
          <p:cNvSpPr/>
          <p:nvPr/>
        </p:nvSpPr>
        <p:spPr>
          <a:xfrm>
            <a:off x="9628632" y="2944368"/>
            <a:ext cx="219456" cy="219456"/>
          </a:xfrm>
          <a:prstGeom prst="ellipse">
            <a:avLst/>
          </a:prstGeom>
          <a:solidFill>
            <a:srgbClr val="2F6BFF"/>
          </a:solidFill>
          <a:ln/>
        </p:spPr>
      </p:sp>
      <p:sp>
        <p:nvSpPr>
          <p:cNvPr id="8" name="Text 6"/>
          <p:cNvSpPr/>
          <p:nvPr/>
        </p:nvSpPr>
        <p:spPr>
          <a:xfrm>
            <a:off x="566928" y="1325880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6FA0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SETUP &amp; ONBOARDING GUIDE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66928" y="178308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Media Hub</a:t>
            </a:r>
            <a:endParaRPr lang="en-US" sz="6400" dirty="0"/>
          </a:p>
        </p:txBody>
      </p:sp>
      <p:sp>
        <p:nvSpPr>
          <p:cNvPr id="10" name="Text 8"/>
          <p:cNvSpPr/>
          <p:nvPr/>
        </p:nvSpPr>
        <p:spPr>
          <a:xfrm>
            <a:off x="566928" y="301752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CFDB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Meal Vouchers &amp; Media Information — AFC Asian Cup 2027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566928" y="3931920"/>
            <a:ext cx="2286000" cy="457200"/>
          </a:xfrm>
          <a:prstGeom prst="roundRect">
            <a:avLst>
              <a:gd name="adj" fmla="val 50000"/>
            </a:avLst>
          </a:prstGeom>
          <a:solidFill>
            <a:srgbClr val="2F6BFF"/>
          </a:solidFill>
          <a:ln/>
        </p:spPr>
      </p:sp>
      <p:sp>
        <p:nvSpPr>
          <p:cNvPr id="12" name="Text 10"/>
          <p:cNvSpPr/>
          <p:nvPr/>
        </p:nvSpPr>
        <p:spPr>
          <a:xfrm>
            <a:off x="566928" y="3931920"/>
            <a:ext cx="2286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 Administrators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3035808" y="3931920"/>
            <a:ext cx="2194560" cy="457200"/>
          </a:xfrm>
          <a:prstGeom prst="roundRect">
            <a:avLst>
              <a:gd name="adj" fmla="val 50000"/>
            </a:avLst>
          </a:prstGeom>
          <a:solidFill>
            <a:srgbClr val="0E9F6E"/>
          </a:solidFill>
          <a:ln/>
        </p:spPr>
      </p:sp>
      <p:sp>
        <p:nvSpPr>
          <p:cNvPr id="14" name="Text 12"/>
          <p:cNvSpPr/>
          <p:nvPr/>
        </p:nvSpPr>
        <p:spPr>
          <a:xfrm>
            <a:off x="3035808" y="393192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 Media Clients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66928" y="4709160"/>
            <a:ext cx="6766560" cy="566928"/>
          </a:xfrm>
          <a:prstGeom prst="roundRect">
            <a:avLst>
              <a:gd name="adj" fmla="val 19355"/>
            </a:avLst>
          </a:prstGeom>
          <a:solidFill>
            <a:srgbClr val="17305A"/>
          </a:solidFill>
          <a:ln/>
        </p:spPr>
      </p:sp>
      <p:sp>
        <p:nvSpPr>
          <p:cNvPr id="16" name="Text 14"/>
          <p:cNvSpPr/>
          <p:nvPr/>
        </p:nvSpPr>
        <p:spPr>
          <a:xfrm>
            <a:off x="795528" y="4709160"/>
            <a:ext cx="64008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6BE0A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 </a:t>
            </a:r>
            <a:pPr algn="l" indent="0" marL="0">
              <a:buNone/>
            </a:pPr>
            <a:r>
              <a:rPr lang="en-US" sz="13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https://afc2027-media-hub.onrender.com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66928" y="54406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i="1" dirty="0">
                <a:solidFill>
                  <a:srgbClr val="93A4C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Hosted in the cloud — open it from any phone, on Wi-Fi or mobile data.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566928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3A4C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AFC Asian Cup 2027  ·  Media Hub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710367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4C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2F6B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OVERVIEW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1105783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Two apps, one cloud address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1828800"/>
            <a:ext cx="5349240" cy="246888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2F6EE"/>
            </a:solidFill>
            <a:prstDash val="solid"/>
          </a:ln>
          <a:effectLst>
            <a:outerShdw sx="100000" sy="100000" kx="0" ky="0" algn="bl" rotWithShape="0" blurRad="114300" dist="38100" dir="5400000">
              <a:srgbClr val="0F1A2E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828800"/>
            <a:ext cx="5349240" cy="777240"/>
          </a:xfrm>
          <a:prstGeom prst="roundRect">
            <a:avLst>
              <a:gd name="adj" fmla="val 14118"/>
            </a:avLst>
          </a:prstGeom>
          <a:solidFill>
            <a:srgbClr val="0E9F6E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2221992"/>
            <a:ext cx="5349240" cy="384048"/>
          </a:xfrm>
          <a:prstGeom prst="rect">
            <a:avLst/>
          </a:prstGeom>
          <a:solidFill>
            <a:srgbClr val="0E9F6E"/>
          </a:solidFill>
          <a:ln/>
        </p:spPr>
      </p:sp>
      <p:sp>
        <p:nvSpPr>
          <p:cNvPr id="7" name="Text 5"/>
          <p:cNvSpPr/>
          <p:nvPr/>
        </p:nvSpPr>
        <p:spPr>
          <a:xfrm>
            <a:off x="841248" y="1828800"/>
            <a:ext cx="4800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Client App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41248" y="1828800"/>
            <a:ext cx="4800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D8F3E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 every phone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86968" y="2743200"/>
            <a:ext cx="4709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F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 accredited media members.</a:t>
            </a:r>
            <a:endParaRPr lang="en-US" sz="1300" dirty="0"/>
          </a:p>
          <a:p>
            <a:pPr algn="l" marL="203200" indent="-2032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F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Request meal vouchers — get a QR ticket.</a:t>
            </a:r>
            <a:endParaRPr lang="en-US" sz="1300" dirty="0"/>
          </a:p>
          <a:p>
            <a:pPr algn="l" marL="203200" indent="-2032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F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Vouchers stay available all day.</a:t>
            </a:r>
            <a:endParaRPr lang="en-US" sz="1300" dirty="0"/>
          </a:p>
          <a:p>
            <a:pPr algn="l" marL="203200" indent="-2032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F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Press, news &amp; shuttle info.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86968" y="3886200"/>
            <a:ext cx="4709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E9F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afc2027-media-hub.onrender.com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75527" y="1828800"/>
            <a:ext cx="5349240" cy="246888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E8F0FF"/>
            </a:solidFill>
            <a:prstDash val="solid"/>
          </a:ln>
          <a:effectLst>
            <a:outerShdw sx="100000" sy="100000" kx="0" ky="0" algn="bl" rotWithShape="0" blurRad="114300" dist="38100" dir="5400000">
              <a:srgbClr val="0F1A2E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275527" y="1828800"/>
            <a:ext cx="5349240" cy="777240"/>
          </a:xfrm>
          <a:prstGeom prst="roundRect">
            <a:avLst>
              <a:gd name="adj" fmla="val 14118"/>
            </a:avLst>
          </a:prstGeom>
          <a:solidFill>
            <a:srgbClr val="12274A"/>
          </a:solidFill>
          <a:ln/>
        </p:spPr>
      </p:sp>
      <p:sp>
        <p:nvSpPr>
          <p:cNvPr id="13" name="Shape 11"/>
          <p:cNvSpPr/>
          <p:nvPr/>
        </p:nvSpPr>
        <p:spPr>
          <a:xfrm>
            <a:off x="6275527" y="2221992"/>
            <a:ext cx="5349240" cy="384048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14" name="Text 12"/>
          <p:cNvSpPr/>
          <p:nvPr/>
        </p:nvSpPr>
        <p:spPr>
          <a:xfrm>
            <a:off x="6549847" y="1828800"/>
            <a:ext cx="4800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Admin &amp; Catering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6549847" y="1828800"/>
            <a:ext cx="48006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BFD2F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organizers + counter staff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95567" y="2743200"/>
            <a:ext cx="4709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F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analytics + CSV export.</a:t>
            </a:r>
            <a:endParaRPr lang="en-US" sz="1300" dirty="0"/>
          </a:p>
          <a:p>
            <a:pPr algn="l" marL="203200" indent="-2032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F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Scan &amp; redeem vouchers at the counter.</a:t>
            </a:r>
            <a:endParaRPr lang="en-US" sz="1300" dirty="0"/>
          </a:p>
          <a:p>
            <a:pPr algn="l" marL="203200" indent="-2032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F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 venues, news, press &amp; transport.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595567" y="3886200"/>
            <a:ext cx="47091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2F6B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afc2027-media-hub.onrender.com/admin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66928" y="4617720"/>
            <a:ext cx="11057839" cy="868680"/>
          </a:xfrm>
          <a:prstGeom prst="roundRect">
            <a:avLst>
              <a:gd name="adj" fmla="val 12632"/>
            </a:avLst>
          </a:prstGeom>
          <a:solidFill>
            <a:srgbClr val="FBEFD9"/>
          </a:solidFill>
          <a:ln w="12700">
            <a:solidFill>
              <a:srgbClr val="F1DCB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86968" y="4617720"/>
            <a:ext cx="1041775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B9710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Why a central server?  </a:t>
            </a:r>
            <a:pPr algn="l" indent="0" marL="0">
              <a:buNone/>
            </a:pPr>
            <a:r>
              <a:rPr lang="en-US" sz="1300" dirty="0">
                <a:solidFill>
                  <a:srgbClr val="7A4E0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voucher is recorded in a cloud database — daily limits apply to everyone and can’t be bypassed with incognito mode or by clearing the cache. Data survives restarts.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66928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AFC Asian Cup 2027  ·  Media Hub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710367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2F6B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HOW IT WORKS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1105783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 the cloud — reachable anywhere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2194560"/>
            <a:ext cx="3200400" cy="246888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CE2EC"/>
            </a:solidFill>
            <a:prstDash val="solid"/>
          </a:ln>
          <a:effectLst>
            <a:outerShdw sx="100000" sy="100000" kx="0" ky="0" algn="bl" rotWithShape="0" blurRad="114300" dist="38100" dir="5400000">
              <a:srgbClr val="0F1A2E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755648" y="2514600"/>
            <a:ext cx="822960" cy="822960"/>
          </a:xfrm>
          <a:prstGeom prst="ellipse">
            <a:avLst/>
          </a:prstGeom>
          <a:solidFill>
            <a:srgbClr val="12274A"/>
          </a:solidFill>
          <a:ln/>
        </p:spPr>
      </p:sp>
      <p:sp>
        <p:nvSpPr>
          <p:cNvPr id="6" name="Text 4"/>
          <p:cNvSpPr/>
          <p:nvPr/>
        </p:nvSpPr>
        <p:spPr>
          <a:xfrm>
            <a:off x="1755648" y="25146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749808" y="34290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F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 server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95528" y="37947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C6A7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Runs the app + a PostgreSQL database. Always on, no laptop needed.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704088" y="433425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12274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Render + Postgres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495648" y="2194560"/>
            <a:ext cx="3200400" cy="246888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CE2EC"/>
            </a:solidFill>
            <a:prstDash val="solid"/>
          </a:ln>
          <a:effectLst>
            <a:outerShdw sx="100000" sy="100000" kx="0" ky="0" algn="bl" rotWithShape="0" blurRad="114300" dist="38100" dir="5400000">
              <a:srgbClr val="0F1A2E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5684368" y="2514600"/>
            <a:ext cx="822960" cy="822960"/>
          </a:xfrm>
          <a:prstGeom prst="ellipse">
            <a:avLst/>
          </a:prstGeom>
          <a:solidFill>
            <a:srgbClr val="2F6BFF"/>
          </a:solidFill>
          <a:ln/>
        </p:spPr>
      </p:sp>
      <p:sp>
        <p:nvSpPr>
          <p:cNvPr id="12" name="Text 10"/>
          <p:cNvSpPr/>
          <p:nvPr/>
        </p:nvSpPr>
        <p:spPr>
          <a:xfrm>
            <a:off x="5684368" y="25146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3000" dirty="0"/>
          </a:p>
        </p:txBody>
      </p:sp>
      <p:sp>
        <p:nvSpPr>
          <p:cNvPr id="13" name="Text 11"/>
          <p:cNvSpPr/>
          <p:nvPr/>
        </p:nvSpPr>
        <p:spPr>
          <a:xfrm>
            <a:off x="4678528" y="34290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F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internet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4724248" y="37947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C6A7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Reachable over mobile data (4G/5G) or any Wi-Fi, worldwide.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4632808" y="433425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F6B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one public URL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8424367" y="2194560"/>
            <a:ext cx="3200400" cy="246888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CE2EC"/>
            </a:solidFill>
            <a:prstDash val="solid"/>
          </a:ln>
          <a:effectLst>
            <a:outerShdw sx="100000" sy="100000" kx="0" ky="0" algn="bl" rotWithShape="0" blurRad="114300" dist="38100" dir="5400000">
              <a:srgbClr val="0F1A2E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9613087" y="2514600"/>
            <a:ext cx="822960" cy="822960"/>
          </a:xfrm>
          <a:prstGeom prst="ellipse">
            <a:avLst/>
          </a:prstGeom>
          <a:solidFill>
            <a:srgbClr val="0E9F6E"/>
          </a:solidFill>
          <a:ln/>
        </p:spPr>
      </p:sp>
      <p:sp>
        <p:nvSpPr>
          <p:cNvPr id="18" name="Text 16"/>
          <p:cNvSpPr/>
          <p:nvPr/>
        </p:nvSpPr>
        <p:spPr>
          <a:xfrm>
            <a:off x="9613087" y="25146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8607247" y="342900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0F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Any phone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8652967" y="37947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C6A7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 the link or scan the QR — then add to home screen.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8561527" y="4334256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0E9F6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afc2027-media-hub.onrender.com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840480" y="3429000"/>
            <a:ext cx="582016" cy="0"/>
          </a:xfrm>
          <a:prstGeom prst="line">
            <a:avLst/>
          </a:prstGeom>
          <a:noFill/>
          <a:ln w="25400">
            <a:solidFill>
              <a:srgbClr val="8A96A8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7769200" y="3429000"/>
            <a:ext cx="582016" cy="0"/>
          </a:xfrm>
          <a:prstGeom prst="line">
            <a:avLst/>
          </a:prstGeom>
          <a:noFill/>
          <a:ln w="25400">
            <a:solidFill>
              <a:srgbClr val="8A96A8"/>
            </a:solidFill>
            <a:prstDash val="solid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566928" y="5120640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50" i="1" dirty="0">
                <a:solidFill>
                  <a:srgbClr val="5C6A7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cloud is the single source of truth — limits are checked there, for every request, from any device, anywhere.</a:t>
            </a:r>
            <a:endParaRPr lang="en-US" sz="1350" dirty="0"/>
          </a:p>
        </p:txBody>
      </p:sp>
      <p:sp>
        <p:nvSpPr>
          <p:cNvPr id="25" name="Text 23"/>
          <p:cNvSpPr/>
          <p:nvPr/>
        </p:nvSpPr>
        <p:spPr>
          <a:xfrm>
            <a:off x="566928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AFC Asian Cup 2027  ·  Media Hub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0710367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227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2F6B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5544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500" kern="0" dirty="0">
                <a:solidFill>
                  <a:srgbClr val="6FA0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PART 1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66928" y="20116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 Administrators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566928" y="306324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DBF2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Run the system from any browser — organizers and catering staff.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66928" y="4114800"/>
            <a:ext cx="2057400" cy="868680"/>
          </a:xfrm>
          <a:prstGeom prst="roundRect">
            <a:avLst>
              <a:gd name="adj" fmla="val 12632"/>
            </a:avLst>
          </a:prstGeom>
          <a:solidFill>
            <a:srgbClr val="17305A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422452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F6B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731520" y="420624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E7EEF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 the dashboard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779776" y="4114800"/>
            <a:ext cx="2057400" cy="868680"/>
          </a:xfrm>
          <a:prstGeom prst="roundRect">
            <a:avLst>
              <a:gd name="adj" fmla="val 12632"/>
            </a:avLst>
          </a:prstGeom>
          <a:solidFill>
            <a:srgbClr val="17305A"/>
          </a:solidFill>
          <a:ln/>
        </p:spPr>
      </p:sp>
      <p:sp>
        <p:nvSpPr>
          <p:cNvPr id="10" name="Text 8"/>
          <p:cNvSpPr/>
          <p:nvPr/>
        </p:nvSpPr>
        <p:spPr>
          <a:xfrm>
            <a:off x="2944368" y="422452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F6B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2944368" y="420624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E7EEF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Analytics &amp; export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992624" y="4114800"/>
            <a:ext cx="2057400" cy="868680"/>
          </a:xfrm>
          <a:prstGeom prst="roundRect">
            <a:avLst>
              <a:gd name="adj" fmla="val 12632"/>
            </a:avLst>
          </a:prstGeom>
          <a:solidFill>
            <a:srgbClr val="17305A"/>
          </a:solidFill>
          <a:ln/>
        </p:spPr>
      </p:sp>
      <p:sp>
        <p:nvSpPr>
          <p:cNvPr id="13" name="Text 11"/>
          <p:cNvSpPr/>
          <p:nvPr/>
        </p:nvSpPr>
        <p:spPr>
          <a:xfrm>
            <a:off x="5157216" y="422452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F6B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5157216" y="420624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E7EEF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Redeem at counter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205472" y="4114800"/>
            <a:ext cx="2057400" cy="868680"/>
          </a:xfrm>
          <a:prstGeom prst="roundRect">
            <a:avLst>
              <a:gd name="adj" fmla="val 12632"/>
            </a:avLst>
          </a:prstGeom>
          <a:solidFill>
            <a:srgbClr val="17305A"/>
          </a:solidFill>
          <a:ln/>
        </p:spPr>
      </p:sp>
      <p:sp>
        <p:nvSpPr>
          <p:cNvPr id="16" name="Text 14"/>
          <p:cNvSpPr/>
          <p:nvPr/>
        </p:nvSpPr>
        <p:spPr>
          <a:xfrm>
            <a:off x="7370064" y="422452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F6B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7370064" y="420624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E7EEF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 content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9418320" y="4114800"/>
            <a:ext cx="2057400" cy="868680"/>
          </a:xfrm>
          <a:prstGeom prst="roundRect">
            <a:avLst>
              <a:gd name="adj" fmla="val 12632"/>
            </a:avLst>
          </a:prstGeom>
          <a:solidFill>
            <a:srgbClr val="17305A"/>
          </a:solidFill>
          <a:ln/>
        </p:spPr>
      </p:sp>
      <p:sp>
        <p:nvSpPr>
          <p:cNvPr id="19" name="Text 17"/>
          <p:cNvSpPr/>
          <p:nvPr/>
        </p:nvSpPr>
        <p:spPr>
          <a:xfrm>
            <a:off x="9582912" y="422452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2F6B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9582912" y="420624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E7EEF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the QR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66928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3A4C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AFC Asian Cup 2027  ·  Media Hub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710367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4C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48640"/>
            <a:ext cx="548640" cy="548640"/>
          </a:xfrm>
          <a:prstGeom prst="ellipse">
            <a:avLst/>
          </a:prstGeom>
          <a:solidFill>
            <a:srgbClr val="2F6B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548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344168" y="566928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 the Admin Dashboard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344168" y="11704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 1 of 5  ·  Administrators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66928" y="1874520"/>
            <a:ext cx="384048" cy="384048"/>
          </a:xfrm>
          <a:prstGeom prst="ellipse">
            <a:avLst/>
          </a:prstGeom>
          <a:solidFill>
            <a:srgbClr val="2F6BFF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115568" y="1837944"/>
            <a:ext cx="4937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0F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 to the admin URL
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C6A7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 any phone or laptop, open  afc2027-media-hub.onrender.com/admin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66928" y="2834640"/>
            <a:ext cx="384048" cy="384048"/>
          </a:xfrm>
          <a:prstGeom prst="ellipse">
            <a:avLst/>
          </a:prstGeom>
          <a:solidFill>
            <a:srgbClr val="2F6BFF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" y="2834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115568" y="2798064"/>
            <a:ext cx="4937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0F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 your admin key
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C6A7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private key set when the app was deployed.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566928" y="3794760"/>
            <a:ext cx="384048" cy="384048"/>
          </a:xfrm>
          <a:prstGeom prst="ellipse">
            <a:avLst/>
          </a:prstGeom>
          <a:solidFill>
            <a:srgbClr val="2F6BFF"/>
          </a:solidFill>
          <a:ln/>
        </p:spPr>
      </p:sp>
      <p:sp>
        <p:nvSpPr>
          <p:cNvPr id="13" name="Text 11"/>
          <p:cNvSpPr/>
          <p:nvPr/>
        </p:nvSpPr>
        <p:spPr>
          <a:xfrm>
            <a:off x="566928" y="37947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115568" y="3758184"/>
            <a:ext cx="4937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0F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You’re in
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C6A7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key is remembered for the browser session. Tap Lock to sign out.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566928" y="4892040"/>
            <a:ext cx="5212080" cy="457200"/>
          </a:xfrm>
          <a:prstGeom prst="roundRect">
            <a:avLst>
              <a:gd name="adj" fmla="val 50000"/>
            </a:avLst>
          </a:prstGeom>
          <a:solidFill>
            <a:srgbClr val="E8F0FF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4892040"/>
            <a:ext cx="5212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2F6B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Works from anywhere — no venue Wi-Fi required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0" y="1828800"/>
            <a:ext cx="5223967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DCE2EC"/>
            </a:solidFill>
            <a:prstDash val="solid"/>
          </a:ln>
          <a:effectLst>
            <a:outerShdw sx="100000" sy="100000" kx="0" ky="0" algn="bl" rotWithShape="0" blurRad="114300" dist="38100" dir="5400000">
              <a:srgbClr val="0F1A2E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419088" y="1865376"/>
            <a:ext cx="5187391" cy="420624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9" name="Shape 17"/>
          <p:cNvSpPr/>
          <p:nvPr/>
        </p:nvSpPr>
        <p:spPr>
          <a:xfrm>
            <a:off x="6601968" y="2011680"/>
            <a:ext cx="109728" cy="10972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0" name="Shape 18"/>
          <p:cNvSpPr/>
          <p:nvPr/>
        </p:nvSpPr>
        <p:spPr>
          <a:xfrm>
            <a:off x="6803136" y="2011680"/>
            <a:ext cx="109728" cy="109728"/>
          </a:xfrm>
          <a:prstGeom prst="ellipse">
            <a:avLst/>
          </a:prstGeom>
          <a:solidFill>
            <a:srgbClr val="F9C23C"/>
          </a:solidFill>
          <a:ln/>
        </p:spPr>
      </p:sp>
      <p:sp>
        <p:nvSpPr>
          <p:cNvPr id="21" name="Shape 19"/>
          <p:cNvSpPr/>
          <p:nvPr/>
        </p:nvSpPr>
        <p:spPr>
          <a:xfrm>
            <a:off x="7004304" y="2011680"/>
            <a:ext cx="109728" cy="109728"/>
          </a:xfrm>
          <a:prstGeom prst="ellipse">
            <a:avLst/>
          </a:prstGeom>
          <a:solidFill>
            <a:srgbClr val="3FBF6A"/>
          </a:solidFill>
          <a:ln/>
        </p:spPr>
      </p:sp>
      <p:sp>
        <p:nvSpPr>
          <p:cNvPr id="22" name="Shape 20"/>
          <p:cNvSpPr/>
          <p:nvPr/>
        </p:nvSpPr>
        <p:spPr>
          <a:xfrm>
            <a:off x="7315200" y="1947672"/>
            <a:ext cx="4035247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2E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52360" y="1947672"/>
            <a:ext cx="385236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C6A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afc2027-media-hub.onrender.com/admin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784184" y="2615184"/>
            <a:ext cx="548640" cy="548640"/>
          </a:xfrm>
          <a:prstGeom prst="ellipse">
            <a:avLst/>
          </a:prstGeom>
          <a:solidFill>
            <a:srgbClr val="12274A"/>
          </a:solidFill>
          <a:ln/>
        </p:spPr>
      </p:sp>
      <p:sp>
        <p:nvSpPr>
          <p:cNvPr id="25" name="Shape 23"/>
          <p:cNvSpPr/>
          <p:nvPr/>
        </p:nvSpPr>
        <p:spPr>
          <a:xfrm>
            <a:off x="8967064" y="2798064"/>
            <a:ext cx="182880" cy="164592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</p:spPr>
      </p:sp>
      <p:sp>
        <p:nvSpPr>
          <p:cNvPr id="26" name="Text 24"/>
          <p:cNvSpPr/>
          <p:nvPr/>
        </p:nvSpPr>
        <p:spPr>
          <a:xfrm>
            <a:off x="6419088" y="3255264"/>
            <a:ext cx="5187391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Admin access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7641184" y="3712464"/>
            <a:ext cx="2743200" cy="411480"/>
          </a:xfrm>
          <a:prstGeom prst="roundRect">
            <a:avLst>
              <a:gd name="adj" fmla="val 17778"/>
            </a:avLst>
          </a:prstGeom>
          <a:solidFill>
            <a:srgbClr val="F5F8FC"/>
          </a:solidFill>
          <a:ln w="12700">
            <a:solidFill>
              <a:srgbClr val="DCE2E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78344" y="3712464"/>
            <a:ext cx="24688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A7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• • • • • • • • •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641184" y="4261104"/>
            <a:ext cx="2743200" cy="411480"/>
          </a:xfrm>
          <a:prstGeom prst="roundRect">
            <a:avLst>
              <a:gd name="adj" fmla="val 17778"/>
            </a:avLst>
          </a:prstGeom>
          <a:solidFill>
            <a:srgbClr val="2F6BFF"/>
          </a:solidFill>
          <a:ln/>
        </p:spPr>
      </p:sp>
      <p:sp>
        <p:nvSpPr>
          <p:cNvPr id="30" name="Text 28"/>
          <p:cNvSpPr/>
          <p:nvPr/>
        </p:nvSpPr>
        <p:spPr>
          <a:xfrm>
            <a:off x="7641184" y="4261104"/>
            <a:ext cx="2743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Unlock dashboard</a:t>
            </a:r>
            <a:endParaRPr lang="en-US" sz="1250" dirty="0"/>
          </a:p>
        </p:txBody>
      </p:sp>
      <p:sp>
        <p:nvSpPr>
          <p:cNvPr id="31" name="Text 29"/>
          <p:cNvSpPr/>
          <p:nvPr/>
        </p:nvSpPr>
        <p:spPr>
          <a:xfrm>
            <a:off x="566928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AFC Asian Cup 2027  ·  Media Hub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10710367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48640"/>
            <a:ext cx="548640" cy="548640"/>
          </a:xfrm>
          <a:prstGeom prst="ellipse">
            <a:avLst/>
          </a:prstGeom>
          <a:solidFill>
            <a:srgbClr val="2F6B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548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344168" y="566928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Monitor &amp; export in real time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344168" y="11704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 2 of 5  ·  Administrators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66928" y="1874520"/>
            <a:ext cx="429768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0F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Counters</a:t>
            </a:r>
            <a:endParaRPr lang="en-US" sz="1300" dirty="0"/>
          </a:p>
          <a:p>
            <a:pPr algn="l" marL="203200" indent="-2032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F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Issued today, redeemed today, registered media, café meals.</a:t>
            </a:r>
            <a:endParaRPr lang="en-US" sz="1300" dirty="0"/>
          </a:p>
          <a:p>
            <a:pPr algn="l" marL="203200" indent="-2032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0F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Charts &amp; live feed</a:t>
            </a:r>
            <a:endParaRPr lang="en-US" sz="1300" dirty="0"/>
          </a:p>
          <a:p>
            <a:pPr algn="l" marL="203200" indent="-2032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F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Breakdown by meal/venue; vouchers as they’re claimed or scanned (auto-refresh 5s).</a:t>
            </a:r>
            <a:endParaRPr lang="en-US" sz="1300" dirty="0"/>
          </a:p>
          <a:p>
            <a:pPr algn="l" marL="203200" indent="-2032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0F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Export to CSV</a:t>
            </a:r>
            <a:endParaRPr lang="en-US" sz="1300" dirty="0"/>
          </a:p>
          <a:p>
            <a:pPr algn="l" marL="203200" indent="-2032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F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Download the full voucher log for catering reconciliation.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212080" y="1783080"/>
            <a:ext cx="6412687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DCE2EC"/>
            </a:solidFill>
            <a:prstDash val="solid"/>
          </a:ln>
          <a:effectLst>
            <a:outerShdw sx="100000" sy="100000" kx="0" ky="0" algn="bl" rotWithShape="0" blurRad="114300" dist="38100" dir="5400000">
              <a:srgbClr val="0F1A2E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5230368" y="1819656"/>
            <a:ext cx="6376111" cy="420624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9" name="Shape 7"/>
          <p:cNvSpPr/>
          <p:nvPr/>
        </p:nvSpPr>
        <p:spPr>
          <a:xfrm>
            <a:off x="5413248" y="1965960"/>
            <a:ext cx="109728" cy="109728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0" name="Shape 8"/>
          <p:cNvSpPr/>
          <p:nvPr/>
        </p:nvSpPr>
        <p:spPr>
          <a:xfrm>
            <a:off x="5614416" y="1965960"/>
            <a:ext cx="109728" cy="109728"/>
          </a:xfrm>
          <a:prstGeom prst="ellipse">
            <a:avLst/>
          </a:prstGeom>
          <a:solidFill>
            <a:srgbClr val="F9C23C"/>
          </a:solidFill>
          <a:ln/>
        </p:spPr>
      </p:sp>
      <p:sp>
        <p:nvSpPr>
          <p:cNvPr id="11" name="Shape 9"/>
          <p:cNvSpPr/>
          <p:nvPr/>
        </p:nvSpPr>
        <p:spPr>
          <a:xfrm>
            <a:off x="5815584" y="1965960"/>
            <a:ext cx="109728" cy="109728"/>
          </a:xfrm>
          <a:prstGeom prst="ellipse">
            <a:avLst/>
          </a:prstGeom>
          <a:solidFill>
            <a:srgbClr val="3FBF6A"/>
          </a:solidFill>
          <a:ln/>
        </p:spPr>
      </p:sp>
      <p:sp>
        <p:nvSpPr>
          <p:cNvPr id="12" name="Shape 10"/>
          <p:cNvSpPr/>
          <p:nvPr/>
        </p:nvSpPr>
        <p:spPr>
          <a:xfrm>
            <a:off x="6126480" y="1901952"/>
            <a:ext cx="5223967" cy="256032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DCE2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63640" y="1901952"/>
            <a:ext cx="5041087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5C6A7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afc2027-media-hub.onrender.com/admin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413248" y="2432304"/>
            <a:ext cx="2913736" cy="777240"/>
          </a:xfrm>
          <a:prstGeom prst="roundRect">
            <a:avLst>
              <a:gd name="adj" fmla="val 14118"/>
            </a:avLst>
          </a:prstGeom>
          <a:solidFill>
            <a:srgbClr val="F5F8FC"/>
          </a:solidFill>
          <a:ln w="12700">
            <a:solidFill>
              <a:srgbClr val="DCE2E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596128" y="2478024"/>
            <a:ext cx="25479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F6B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142</a:t>
            </a:r>
            <a:endParaRPr lang="en-US" sz="3000" dirty="0"/>
          </a:p>
        </p:txBody>
      </p:sp>
      <p:sp>
        <p:nvSpPr>
          <p:cNvPr id="16" name="Text 14"/>
          <p:cNvSpPr/>
          <p:nvPr/>
        </p:nvSpPr>
        <p:spPr>
          <a:xfrm>
            <a:off x="5596128" y="2862072"/>
            <a:ext cx="2547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A7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Issued today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8509864" y="2432304"/>
            <a:ext cx="2913736" cy="777240"/>
          </a:xfrm>
          <a:prstGeom prst="roundRect">
            <a:avLst>
              <a:gd name="adj" fmla="val 14118"/>
            </a:avLst>
          </a:prstGeom>
          <a:solidFill>
            <a:srgbClr val="F5F8FC"/>
          </a:solidFill>
          <a:ln w="12700">
            <a:solidFill>
              <a:srgbClr val="DCE2E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692744" y="2478024"/>
            <a:ext cx="2547976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E9F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96</a:t>
            </a:r>
            <a:endParaRPr lang="en-US" sz="3000" dirty="0"/>
          </a:p>
        </p:txBody>
      </p:sp>
      <p:sp>
        <p:nvSpPr>
          <p:cNvPr id="19" name="Text 17"/>
          <p:cNvSpPr/>
          <p:nvPr/>
        </p:nvSpPr>
        <p:spPr>
          <a:xfrm>
            <a:off x="8692744" y="2862072"/>
            <a:ext cx="254797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A7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Redeemed today</a:t>
            </a:r>
            <a:endParaRPr lang="en-US" sz="100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5367528" y="3346704"/>
          <a:ext cx="6101791" cy="1554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1" name="Text 18"/>
          <p:cNvSpPr/>
          <p:nvPr/>
        </p:nvSpPr>
        <p:spPr>
          <a:xfrm>
            <a:off x="566928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AFC Asian Cup 2027  ·  Media Hub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0710367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48640"/>
            <a:ext cx="548640" cy="548640"/>
          </a:xfrm>
          <a:prstGeom prst="ellipse">
            <a:avLst/>
          </a:prstGeom>
          <a:solidFill>
            <a:srgbClr val="2F6B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548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344168" y="566928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Redeem vouchers at the counter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344168" y="11704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 3 of 5  ·  Administrators  ·  the Redeemer tab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66928" y="1874520"/>
            <a:ext cx="384048" cy="384048"/>
          </a:xfrm>
          <a:prstGeom prst="ellipse">
            <a:avLst/>
          </a:prstGeom>
          <a:solidFill>
            <a:srgbClr val="2F6BFF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874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115568" y="1837944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0F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 the Redeemer tab
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C6A7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Designed for catering staff at the buffet.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66928" y="2788920"/>
            <a:ext cx="384048" cy="384048"/>
          </a:xfrm>
          <a:prstGeom prst="ellipse">
            <a:avLst/>
          </a:prstGeom>
          <a:solidFill>
            <a:srgbClr val="2F6BFF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" y="2788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115568" y="2752344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0F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Scan the QR or type the ID
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C6A7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 the device camera, or enter the Voucher ID by hand.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566928" y="3703320"/>
            <a:ext cx="384048" cy="384048"/>
          </a:xfrm>
          <a:prstGeom prst="ellipse">
            <a:avLst/>
          </a:prstGeom>
          <a:solidFill>
            <a:srgbClr val="2F6BFF"/>
          </a:solidFill>
          <a:ln/>
        </p:spPr>
      </p:sp>
      <p:sp>
        <p:nvSpPr>
          <p:cNvPr id="13" name="Text 11"/>
          <p:cNvSpPr/>
          <p:nvPr/>
        </p:nvSpPr>
        <p:spPr>
          <a:xfrm>
            <a:off x="566928" y="37033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115568" y="3666744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0F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Read the result
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C6A7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Valid vouchers are marked Redeemed instantly.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6492240" y="1828800"/>
            <a:ext cx="5132527" cy="1417320"/>
          </a:xfrm>
          <a:prstGeom prst="roundRect">
            <a:avLst>
              <a:gd name="adj" fmla="val 7742"/>
            </a:avLst>
          </a:prstGeom>
          <a:solidFill>
            <a:srgbClr val="E2F6EE"/>
          </a:solidFill>
          <a:ln w="12700">
            <a:solidFill>
              <a:srgbClr val="BCE6CC"/>
            </a:solidFill>
            <a:prstDash val="solid"/>
          </a:ln>
          <a:effectLst>
            <a:outerShdw sx="100000" sy="100000" kx="0" ky="0" algn="bl" rotWithShape="0" blurRad="114300" dist="38100" dir="5400000">
              <a:srgbClr val="0F1A2E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766560" y="2240280"/>
            <a:ext cx="594360" cy="594360"/>
          </a:xfrm>
          <a:prstGeom prst="ellipse">
            <a:avLst/>
          </a:prstGeom>
          <a:solidFill>
            <a:srgbClr val="0E9F6E"/>
          </a:solidFill>
          <a:ln/>
        </p:spPr>
      </p:sp>
      <p:sp>
        <p:nvSpPr>
          <p:cNvPr id="17" name="Text 15"/>
          <p:cNvSpPr/>
          <p:nvPr/>
        </p:nvSpPr>
        <p:spPr>
          <a:xfrm>
            <a:off x="6766560" y="2221992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✓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7498080" y="2103120"/>
            <a:ext cx="394380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C6E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SUCCESS — MEAL VALID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7498080" y="2542032"/>
            <a:ext cx="394380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C6E3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Marked Redeemed · MMC · Lunch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92240" y="3429000"/>
            <a:ext cx="5132527" cy="1417320"/>
          </a:xfrm>
          <a:prstGeom prst="roundRect">
            <a:avLst>
              <a:gd name="adj" fmla="val 7742"/>
            </a:avLst>
          </a:prstGeom>
          <a:solidFill>
            <a:srgbClr val="FDE6E6"/>
          </a:solidFill>
          <a:ln w="12700">
            <a:solidFill>
              <a:srgbClr val="F3C4C4"/>
            </a:solidFill>
            <a:prstDash val="solid"/>
          </a:ln>
          <a:effectLst>
            <a:outerShdw sx="100000" sy="100000" kx="0" ky="0" algn="bl" rotWithShape="0" blurRad="114300" dist="38100" dir="5400000">
              <a:srgbClr val="0F1A2E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6766560" y="3840480"/>
            <a:ext cx="594360" cy="594360"/>
          </a:xfrm>
          <a:prstGeom prst="ellipse">
            <a:avLst/>
          </a:prstGeom>
          <a:solidFill>
            <a:srgbClr val="D12626"/>
          </a:solidFill>
          <a:ln/>
        </p:spPr>
      </p:sp>
      <p:sp>
        <p:nvSpPr>
          <p:cNvPr id="22" name="Text 20"/>
          <p:cNvSpPr/>
          <p:nvPr/>
        </p:nvSpPr>
        <p:spPr>
          <a:xfrm>
            <a:off x="6766560" y="3822192"/>
            <a:ext cx="594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!</a:t>
            </a:r>
            <a:endParaRPr lang="en-US" sz="2600" dirty="0"/>
          </a:p>
        </p:txBody>
      </p:sp>
      <p:sp>
        <p:nvSpPr>
          <p:cNvPr id="23" name="Text 21"/>
          <p:cNvSpPr/>
          <p:nvPr/>
        </p:nvSpPr>
        <p:spPr>
          <a:xfrm>
            <a:off x="7498080" y="3703320"/>
            <a:ext cx="394380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9D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WARNING — ALREADY REDEEMED</a:t>
            </a:r>
            <a:endParaRPr lang="en-US" sz="1550" dirty="0"/>
          </a:p>
        </p:txBody>
      </p:sp>
      <p:sp>
        <p:nvSpPr>
          <p:cNvPr id="24" name="Text 22"/>
          <p:cNvSpPr/>
          <p:nvPr/>
        </p:nvSpPr>
        <p:spPr>
          <a:xfrm>
            <a:off x="7498080" y="4142232"/>
            <a:ext cx="394380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1C1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Shows the original redemption time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566928" y="4983480"/>
            <a:ext cx="5669280" cy="457200"/>
          </a:xfrm>
          <a:prstGeom prst="roundRect">
            <a:avLst>
              <a:gd name="adj" fmla="val 50000"/>
            </a:avLst>
          </a:prstGeom>
          <a:solidFill>
            <a:srgbClr val="E8F0FF"/>
          </a:solidFill>
          <a:ln/>
        </p:spPr>
      </p:sp>
      <p:sp>
        <p:nvSpPr>
          <p:cNvPr id="26" name="Text 24"/>
          <p:cNvSpPr/>
          <p:nvPr/>
        </p:nvSpPr>
        <p:spPr>
          <a:xfrm>
            <a:off x="566928" y="4983480"/>
            <a:ext cx="5669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2F6B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Camera scanning works great on Android Chrome — manual entry always available</a:t>
            </a:r>
            <a:endParaRPr lang="en-US" sz="1050" dirty="0"/>
          </a:p>
        </p:txBody>
      </p:sp>
      <p:sp>
        <p:nvSpPr>
          <p:cNvPr id="27" name="Text 25"/>
          <p:cNvSpPr/>
          <p:nvPr/>
        </p:nvSpPr>
        <p:spPr>
          <a:xfrm>
            <a:off x="566928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AFC Asian Cup 2027  ·  Media Hub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0710367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48640"/>
            <a:ext cx="548640" cy="548640"/>
          </a:xfrm>
          <a:prstGeom prst="ellipse">
            <a:avLst/>
          </a:prstGeom>
          <a:solidFill>
            <a:srgbClr val="2F6B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548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344168" y="566928"/>
            <a:ext cx="100584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Manage every piece of content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344168" y="11704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 4 of 5  ·  Administrators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66928" y="1874520"/>
            <a:ext cx="539176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F1E5FB"/>
            </a:solidFill>
            <a:prstDash val="solid"/>
          </a:ln>
          <a:effectLst>
            <a:outerShdw sx="100000" sy="100000" kx="0" ky="0" algn="bl" rotWithShape="0" blurRad="114300" dist="38100" dir="5400000">
              <a:srgbClr val="0F1A2E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566928" y="1874520"/>
            <a:ext cx="146304" cy="1325880"/>
          </a:xfrm>
          <a:prstGeom prst="roundRect">
            <a:avLst>
              <a:gd name="adj" fmla="val 31250"/>
            </a:avLst>
          </a:prstGeom>
          <a:solidFill>
            <a:srgbClr val="7A2BB8"/>
          </a:solidFill>
          <a:ln/>
        </p:spPr>
      </p:sp>
      <p:sp>
        <p:nvSpPr>
          <p:cNvPr id="8" name="Text 6"/>
          <p:cNvSpPr/>
          <p:nvPr/>
        </p:nvSpPr>
        <p:spPr>
          <a:xfrm>
            <a:off x="932688" y="2075688"/>
            <a:ext cx="484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Venue Manager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32688" y="2496312"/>
            <a:ext cx="479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6A7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Add/edit/delete venues. Type sets the rules: MMC = Lunch + Dinner; Stadium = 1 café meal; Training = no meals.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33008" y="1874520"/>
            <a:ext cx="539176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E2F6EE"/>
            </a:solidFill>
            <a:prstDash val="solid"/>
          </a:ln>
          <a:effectLst>
            <a:outerShdw sx="100000" sy="100000" kx="0" ky="0" algn="bl" rotWithShape="0" blurRad="114300" dist="38100" dir="5400000">
              <a:srgbClr val="0F1A2E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33008" y="1874520"/>
            <a:ext cx="146304" cy="1325880"/>
          </a:xfrm>
          <a:prstGeom prst="roundRect">
            <a:avLst>
              <a:gd name="adj" fmla="val 31250"/>
            </a:avLst>
          </a:prstGeom>
          <a:solidFill>
            <a:srgbClr val="0E9F6E"/>
          </a:solidFill>
          <a:ln/>
        </p:spPr>
      </p:sp>
      <p:sp>
        <p:nvSpPr>
          <p:cNvPr id="12" name="Text 10"/>
          <p:cNvSpPr/>
          <p:nvPr/>
        </p:nvSpPr>
        <p:spPr>
          <a:xfrm>
            <a:off x="6598768" y="2075688"/>
            <a:ext cx="484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Transport Manager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598768" y="2496312"/>
            <a:ext cx="479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6A7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Shuttle routes, times and frequencies — MMC ⇄ stadiums and training sites.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66928" y="3474720"/>
            <a:ext cx="539176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FBEFD9"/>
            </a:solidFill>
            <a:prstDash val="solid"/>
          </a:ln>
          <a:effectLst>
            <a:outerShdw sx="100000" sy="100000" kx="0" ky="0" algn="bl" rotWithShape="0" blurRad="114300" dist="38100" dir="5400000">
              <a:srgbClr val="0F1A2E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66928" y="3474720"/>
            <a:ext cx="146304" cy="1325880"/>
          </a:xfrm>
          <a:prstGeom prst="roundRect">
            <a:avLst>
              <a:gd name="adj" fmla="val 31250"/>
            </a:avLst>
          </a:prstGeom>
          <a:solidFill>
            <a:srgbClr val="B9710A"/>
          </a:solidFill>
          <a:ln/>
        </p:spPr>
      </p:sp>
      <p:sp>
        <p:nvSpPr>
          <p:cNvPr id="16" name="Text 14"/>
          <p:cNvSpPr/>
          <p:nvPr/>
        </p:nvSpPr>
        <p:spPr>
          <a:xfrm>
            <a:off x="932688" y="3675888"/>
            <a:ext cx="484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News Manager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932688" y="4096512"/>
            <a:ext cx="479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6A7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Alerts and updates with categories (Alert, Transport, Catering…) and a “pin to top”.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233008" y="3474720"/>
            <a:ext cx="539176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E8F0FF"/>
            </a:solidFill>
            <a:prstDash val="solid"/>
          </a:ln>
          <a:effectLst>
            <a:outerShdw sx="100000" sy="100000" kx="0" ky="0" algn="bl" rotWithShape="0" blurRad="114300" dist="38100" dir="5400000">
              <a:srgbClr val="0F1A2E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6233008" y="3474720"/>
            <a:ext cx="146304" cy="1325880"/>
          </a:xfrm>
          <a:prstGeom prst="roundRect">
            <a:avLst>
              <a:gd name="adj" fmla="val 31250"/>
            </a:avLst>
          </a:prstGeom>
          <a:solidFill>
            <a:srgbClr val="2F6BFF"/>
          </a:solidFill>
          <a:ln/>
        </p:spPr>
      </p:sp>
      <p:sp>
        <p:nvSpPr>
          <p:cNvPr id="20" name="Text 18"/>
          <p:cNvSpPr/>
          <p:nvPr/>
        </p:nvSpPr>
        <p:spPr>
          <a:xfrm>
            <a:off x="6598768" y="3675888"/>
            <a:ext cx="484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Press Manager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6598768" y="4096512"/>
            <a:ext cx="4797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6A7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Conferences with date, time, room and a live status badge.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566928" y="5056632"/>
            <a:ext cx="11057839" cy="566928"/>
          </a:xfrm>
          <a:prstGeom prst="roundRect">
            <a:avLst>
              <a:gd name="adj" fmla="val 19355"/>
            </a:avLst>
          </a:prstGeom>
          <a:solidFill>
            <a:srgbClr val="F5F8FC"/>
          </a:solidFill>
          <a:ln w="12700">
            <a:solidFill>
              <a:srgbClr val="DCE2E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86968" y="5056632"/>
            <a:ext cx="1041775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0F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Saved to the cloud. </a:t>
            </a:r>
            <a:pPr indent="0" marL="0">
              <a:buNone/>
            </a:pPr>
            <a:r>
              <a:rPr lang="en-US" sz="1300" dirty="0">
                <a:solidFill>
                  <a:srgbClr val="5C6A7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phone sees the change on its next refresh — venue changes instantly update the client’s location list.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566928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AFC Asian Cup 2027  ·  Media Hub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0710367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48640"/>
            <a:ext cx="548640" cy="548640"/>
          </a:xfrm>
          <a:prstGeom prst="ellipse">
            <a:avLst/>
          </a:prstGeom>
          <a:solidFill>
            <a:srgbClr val="2F6BFF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548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344168" y="566928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Share access with a QR code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344168" y="11704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 5 of 5  ·  Administrators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66928" y="1920240"/>
            <a:ext cx="384048" cy="384048"/>
          </a:xfrm>
          <a:prstGeom prst="ellipse">
            <a:avLst/>
          </a:prstGeom>
          <a:solidFill>
            <a:srgbClr val="2F6BFF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115568" y="1883664"/>
            <a:ext cx="5303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0F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 the Share page
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C6A7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Visit  afc2027-media-hub.onrender.com/share  (or Admin → Share QR).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66928" y="2880360"/>
            <a:ext cx="384048" cy="384048"/>
          </a:xfrm>
          <a:prstGeom prst="ellipse">
            <a:avLst/>
          </a:prstGeom>
          <a:solidFill>
            <a:srgbClr val="2F6BFF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115568" y="2843784"/>
            <a:ext cx="5303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0F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Print or display it
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C6A7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 ready-to-print poster with the QR and the link.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566928" y="3840480"/>
            <a:ext cx="384048" cy="384048"/>
          </a:xfrm>
          <a:prstGeom prst="ellipse">
            <a:avLst/>
          </a:prstGeom>
          <a:solidFill>
            <a:srgbClr val="2F6BFF"/>
          </a:solidFill>
          <a:ln/>
        </p:spPr>
      </p:sp>
      <p:sp>
        <p:nvSpPr>
          <p:cNvPr id="13" name="Text 11"/>
          <p:cNvSpPr/>
          <p:nvPr/>
        </p:nvSpPr>
        <p:spPr>
          <a:xfrm>
            <a:off x="566928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115568" y="3803904"/>
            <a:ext cx="5303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0F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Hand it to the media
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C6A7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Works on cellular and any Wi-Fi — anyone, anywhere.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7680960" y="1828800"/>
            <a:ext cx="3943807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E2EC"/>
            </a:solidFill>
            <a:prstDash val="solid"/>
          </a:ln>
          <a:effectLst>
            <a:outerShdw sx="100000" sy="100000" kx="0" ky="0" algn="bl" rotWithShape="0" blurRad="114300" dist="38100" dir="5400000">
              <a:srgbClr val="0F1A2E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680960" y="2057400"/>
            <a:ext cx="3943807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Scan to open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7680960" y="2377440"/>
            <a:ext cx="394380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5C6A7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Media Hub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829904" y="2788920"/>
            <a:ext cx="1645920" cy="1645920"/>
          </a:xfrm>
          <a:prstGeom prst="roundRect">
            <a:avLst>
              <a:gd name="adj" fmla="val 4444"/>
            </a:avLst>
          </a:prstGeom>
          <a:solidFill>
            <a:srgbClr val="FFFFFF"/>
          </a:solidFill>
          <a:ln w="12700">
            <a:solidFill>
              <a:srgbClr val="DCE2E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9027414" y="2986430"/>
            <a:ext cx="350252" cy="350252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20" name="Shape 18"/>
          <p:cNvSpPr/>
          <p:nvPr/>
        </p:nvSpPr>
        <p:spPr>
          <a:xfrm>
            <a:off x="9104469" y="3063486"/>
            <a:ext cx="196141" cy="196141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9153505" y="3112521"/>
            <a:ext cx="98070" cy="98070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22" name="Shape 20"/>
          <p:cNvSpPr/>
          <p:nvPr/>
        </p:nvSpPr>
        <p:spPr>
          <a:xfrm>
            <a:off x="9928061" y="2986430"/>
            <a:ext cx="350252" cy="350252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23" name="Shape 21"/>
          <p:cNvSpPr/>
          <p:nvPr/>
        </p:nvSpPr>
        <p:spPr>
          <a:xfrm>
            <a:off x="10005117" y="3063486"/>
            <a:ext cx="196141" cy="196141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4" name="Shape 22"/>
          <p:cNvSpPr/>
          <p:nvPr/>
        </p:nvSpPr>
        <p:spPr>
          <a:xfrm>
            <a:off x="10054152" y="3112521"/>
            <a:ext cx="98070" cy="98070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25" name="Shape 23"/>
          <p:cNvSpPr/>
          <p:nvPr/>
        </p:nvSpPr>
        <p:spPr>
          <a:xfrm>
            <a:off x="9027414" y="3887078"/>
            <a:ext cx="350252" cy="350252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26" name="Shape 24"/>
          <p:cNvSpPr/>
          <p:nvPr/>
        </p:nvSpPr>
        <p:spPr>
          <a:xfrm>
            <a:off x="9104469" y="3964133"/>
            <a:ext cx="196141" cy="196141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Shape 25"/>
          <p:cNvSpPr/>
          <p:nvPr/>
        </p:nvSpPr>
        <p:spPr>
          <a:xfrm>
            <a:off x="9153505" y="4013168"/>
            <a:ext cx="98070" cy="98070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28" name="Shape 26"/>
          <p:cNvSpPr/>
          <p:nvPr/>
        </p:nvSpPr>
        <p:spPr>
          <a:xfrm>
            <a:off x="9597268" y="3000329"/>
            <a:ext cx="111191" cy="111191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29" name="Shape 27"/>
          <p:cNvSpPr/>
          <p:nvPr/>
        </p:nvSpPr>
        <p:spPr>
          <a:xfrm>
            <a:off x="9458279" y="3139318"/>
            <a:ext cx="111191" cy="111191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30" name="Shape 28"/>
          <p:cNvSpPr/>
          <p:nvPr/>
        </p:nvSpPr>
        <p:spPr>
          <a:xfrm>
            <a:off x="9597268" y="3139318"/>
            <a:ext cx="111191" cy="111191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31" name="Shape 29"/>
          <p:cNvSpPr/>
          <p:nvPr/>
        </p:nvSpPr>
        <p:spPr>
          <a:xfrm>
            <a:off x="9597268" y="3278307"/>
            <a:ext cx="111191" cy="111191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32" name="Shape 30"/>
          <p:cNvSpPr/>
          <p:nvPr/>
        </p:nvSpPr>
        <p:spPr>
          <a:xfrm>
            <a:off x="9180302" y="3417296"/>
            <a:ext cx="111191" cy="111191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33" name="Shape 31"/>
          <p:cNvSpPr/>
          <p:nvPr/>
        </p:nvSpPr>
        <p:spPr>
          <a:xfrm>
            <a:off x="9597268" y="3417296"/>
            <a:ext cx="111191" cy="111191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34" name="Shape 32"/>
          <p:cNvSpPr/>
          <p:nvPr/>
        </p:nvSpPr>
        <p:spPr>
          <a:xfrm>
            <a:off x="10014234" y="3417296"/>
            <a:ext cx="111191" cy="111191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35" name="Shape 33"/>
          <p:cNvSpPr/>
          <p:nvPr/>
        </p:nvSpPr>
        <p:spPr>
          <a:xfrm>
            <a:off x="9180302" y="3556284"/>
            <a:ext cx="111191" cy="111191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36" name="Shape 34"/>
          <p:cNvSpPr/>
          <p:nvPr/>
        </p:nvSpPr>
        <p:spPr>
          <a:xfrm>
            <a:off x="9319290" y="3556284"/>
            <a:ext cx="111191" cy="111191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37" name="Shape 35"/>
          <p:cNvSpPr/>
          <p:nvPr/>
        </p:nvSpPr>
        <p:spPr>
          <a:xfrm>
            <a:off x="9736257" y="3556284"/>
            <a:ext cx="111191" cy="111191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38" name="Shape 36"/>
          <p:cNvSpPr/>
          <p:nvPr/>
        </p:nvSpPr>
        <p:spPr>
          <a:xfrm>
            <a:off x="9875246" y="3556284"/>
            <a:ext cx="111191" cy="111191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39" name="Shape 37"/>
          <p:cNvSpPr/>
          <p:nvPr/>
        </p:nvSpPr>
        <p:spPr>
          <a:xfrm>
            <a:off x="10014234" y="3556284"/>
            <a:ext cx="111191" cy="111191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40" name="Shape 38"/>
          <p:cNvSpPr/>
          <p:nvPr/>
        </p:nvSpPr>
        <p:spPr>
          <a:xfrm>
            <a:off x="9041313" y="3695273"/>
            <a:ext cx="111191" cy="111191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41" name="Shape 39"/>
          <p:cNvSpPr/>
          <p:nvPr/>
        </p:nvSpPr>
        <p:spPr>
          <a:xfrm>
            <a:off x="9180302" y="3695273"/>
            <a:ext cx="111191" cy="111191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42" name="Shape 40"/>
          <p:cNvSpPr/>
          <p:nvPr/>
        </p:nvSpPr>
        <p:spPr>
          <a:xfrm>
            <a:off x="9319290" y="3695273"/>
            <a:ext cx="111191" cy="111191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43" name="Shape 41"/>
          <p:cNvSpPr/>
          <p:nvPr/>
        </p:nvSpPr>
        <p:spPr>
          <a:xfrm>
            <a:off x="9458279" y="3695273"/>
            <a:ext cx="111191" cy="111191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44" name="Shape 42"/>
          <p:cNvSpPr/>
          <p:nvPr/>
        </p:nvSpPr>
        <p:spPr>
          <a:xfrm>
            <a:off x="9597268" y="3695273"/>
            <a:ext cx="111191" cy="111191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45" name="Shape 43"/>
          <p:cNvSpPr/>
          <p:nvPr/>
        </p:nvSpPr>
        <p:spPr>
          <a:xfrm>
            <a:off x="10014234" y="3695273"/>
            <a:ext cx="111191" cy="111191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46" name="Shape 44"/>
          <p:cNvSpPr/>
          <p:nvPr/>
        </p:nvSpPr>
        <p:spPr>
          <a:xfrm>
            <a:off x="10153223" y="3695273"/>
            <a:ext cx="111191" cy="111191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47" name="Shape 45"/>
          <p:cNvSpPr/>
          <p:nvPr/>
        </p:nvSpPr>
        <p:spPr>
          <a:xfrm>
            <a:off x="9597268" y="3834262"/>
            <a:ext cx="111191" cy="111191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48" name="Shape 46"/>
          <p:cNvSpPr/>
          <p:nvPr/>
        </p:nvSpPr>
        <p:spPr>
          <a:xfrm>
            <a:off x="9597268" y="3973251"/>
            <a:ext cx="111191" cy="111191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49" name="Shape 47"/>
          <p:cNvSpPr/>
          <p:nvPr/>
        </p:nvSpPr>
        <p:spPr>
          <a:xfrm>
            <a:off x="9736257" y="3973251"/>
            <a:ext cx="111191" cy="111191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50" name="Shape 48"/>
          <p:cNvSpPr/>
          <p:nvPr/>
        </p:nvSpPr>
        <p:spPr>
          <a:xfrm>
            <a:off x="9736257" y="4112240"/>
            <a:ext cx="111191" cy="111191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51" name="Shape 49"/>
          <p:cNvSpPr/>
          <p:nvPr/>
        </p:nvSpPr>
        <p:spPr>
          <a:xfrm>
            <a:off x="10014234" y="4112240"/>
            <a:ext cx="111191" cy="111191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52" name="Shape 50"/>
          <p:cNvSpPr/>
          <p:nvPr/>
        </p:nvSpPr>
        <p:spPr>
          <a:xfrm>
            <a:off x="10153223" y="4112240"/>
            <a:ext cx="111191" cy="111191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53" name="Shape 51"/>
          <p:cNvSpPr/>
          <p:nvPr/>
        </p:nvSpPr>
        <p:spPr>
          <a:xfrm>
            <a:off x="7909560" y="4480560"/>
            <a:ext cx="3486607" cy="384048"/>
          </a:xfrm>
          <a:prstGeom prst="roundRect">
            <a:avLst>
              <a:gd name="adj" fmla="val 50000"/>
            </a:avLst>
          </a:prstGeom>
          <a:solidFill>
            <a:srgbClr val="12274A"/>
          </a:solidFill>
          <a:ln/>
        </p:spPr>
      </p:sp>
      <p:sp>
        <p:nvSpPr>
          <p:cNvPr id="54" name="Text 52"/>
          <p:cNvSpPr/>
          <p:nvPr/>
        </p:nvSpPr>
        <p:spPr>
          <a:xfrm>
            <a:off x="7909560" y="4480560"/>
            <a:ext cx="348660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afc2027-media-hub.onrender.com</a:t>
            </a:r>
            <a:endParaRPr lang="en-US" sz="1050" dirty="0"/>
          </a:p>
        </p:txBody>
      </p:sp>
      <p:sp>
        <p:nvSpPr>
          <p:cNvPr id="55" name="Text 53"/>
          <p:cNvSpPr/>
          <p:nvPr/>
        </p:nvSpPr>
        <p:spPr>
          <a:xfrm>
            <a:off x="566928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AFC Asian Cup 2027  ·  Media Hub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10710367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09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2F6B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GOOD TO KNOW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1105783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Tips &amp; troubleshooting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1965960"/>
            <a:ext cx="3503066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CE2EC"/>
            </a:solidFill>
            <a:prstDash val="solid"/>
          </a:ln>
          <a:effectLst>
            <a:outerShdw sx="100000" sy="100000" kx="0" ky="0" algn="bl" rotWithShape="0" blurRad="114300" dist="38100" dir="5400000">
              <a:srgbClr val="0F1A2E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95528" y="2221992"/>
            <a:ext cx="310896" cy="310896"/>
          </a:xfrm>
          <a:prstGeom prst="ellipse">
            <a:avLst/>
          </a:prstGeom>
          <a:solidFill>
            <a:srgbClr val="E8F0FF"/>
          </a:solidFill>
          <a:ln/>
        </p:spPr>
      </p:sp>
      <p:sp>
        <p:nvSpPr>
          <p:cNvPr id="6" name="Shape 4"/>
          <p:cNvSpPr/>
          <p:nvPr/>
        </p:nvSpPr>
        <p:spPr>
          <a:xfrm>
            <a:off x="886968" y="2313432"/>
            <a:ext cx="128016" cy="128016"/>
          </a:xfrm>
          <a:prstGeom prst="ellipse">
            <a:avLst/>
          </a:prstGeom>
          <a:solidFill>
            <a:srgbClr val="2F6BFF"/>
          </a:solidFill>
          <a:ln/>
        </p:spPr>
      </p:sp>
      <p:sp>
        <p:nvSpPr>
          <p:cNvPr id="7" name="Text 5"/>
          <p:cNvSpPr/>
          <p:nvPr/>
        </p:nvSpPr>
        <p:spPr>
          <a:xfrm>
            <a:off x="1225296" y="2185416"/>
            <a:ext cx="26801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Change the admin key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22960" y="2679192"/>
            <a:ext cx="300014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6A7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Edit ADMIN_KEY in the host’s Environment settings.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344314" y="1965960"/>
            <a:ext cx="3503066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CE2EC"/>
            </a:solidFill>
            <a:prstDash val="solid"/>
          </a:ln>
          <a:effectLst>
            <a:outerShdw sx="100000" sy="100000" kx="0" ky="0" algn="bl" rotWithShape="0" blurRad="114300" dist="38100" dir="5400000">
              <a:srgbClr val="0F1A2E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72914" y="2221992"/>
            <a:ext cx="310896" cy="310896"/>
          </a:xfrm>
          <a:prstGeom prst="ellipse">
            <a:avLst/>
          </a:prstGeom>
          <a:solidFill>
            <a:srgbClr val="E8F0FF"/>
          </a:solidFill>
          <a:ln/>
        </p:spPr>
      </p:sp>
      <p:sp>
        <p:nvSpPr>
          <p:cNvPr id="11" name="Shape 9"/>
          <p:cNvSpPr/>
          <p:nvPr/>
        </p:nvSpPr>
        <p:spPr>
          <a:xfrm>
            <a:off x="4664354" y="2313432"/>
            <a:ext cx="128016" cy="128016"/>
          </a:xfrm>
          <a:prstGeom prst="ellipse">
            <a:avLst/>
          </a:prstGeom>
          <a:solidFill>
            <a:srgbClr val="2F6BFF"/>
          </a:solidFill>
          <a:ln/>
        </p:spPr>
      </p:sp>
      <p:sp>
        <p:nvSpPr>
          <p:cNvPr id="12" name="Text 10"/>
          <p:cNvSpPr/>
          <p:nvPr/>
        </p:nvSpPr>
        <p:spPr>
          <a:xfrm>
            <a:off x="5002682" y="2185416"/>
            <a:ext cx="26801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First hit may be slow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4600346" y="2679192"/>
            <a:ext cx="300014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6A7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Free tier sleeps when idle; it wakes in ~50 seconds.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121701" y="1965960"/>
            <a:ext cx="3503066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CE2EC"/>
            </a:solidFill>
            <a:prstDash val="solid"/>
          </a:ln>
          <a:effectLst>
            <a:outerShdw sx="100000" sy="100000" kx="0" ky="0" algn="bl" rotWithShape="0" blurRad="114300" dist="38100" dir="5400000">
              <a:srgbClr val="0F1A2E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350301" y="2221992"/>
            <a:ext cx="310896" cy="310896"/>
          </a:xfrm>
          <a:prstGeom prst="ellipse">
            <a:avLst/>
          </a:prstGeom>
          <a:solidFill>
            <a:srgbClr val="E8F0FF"/>
          </a:solidFill>
          <a:ln/>
        </p:spPr>
      </p:sp>
      <p:sp>
        <p:nvSpPr>
          <p:cNvPr id="16" name="Shape 14"/>
          <p:cNvSpPr/>
          <p:nvPr/>
        </p:nvSpPr>
        <p:spPr>
          <a:xfrm>
            <a:off x="8441741" y="2313432"/>
            <a:ext cx="128016" cy="128016"/>
          </a:xfrm>
          <a:prstGeom prst="ellipse">
            <a:avLst/>
          </a:prstGeom>
          <a:solidFill>
            <a:srgbClr val="2F6BFF"/>
          </a:solidFill>
          <a:ln/>
        </p:spPr>
      </p:sp>
      <p:sp>
        <p:nvSpPr>
          <p:cNvPr id="17" name="Text 15"/>
          <p:cNvSpPr/>
          <p:nvPr/>
        </p:nvSpPr>
        <p:spPr>
          <a:xfrm>
            <a:off x="8780069" y="2185416"/>
            <a:ext cx="26801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Back up regularly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377733" y="2679192"/>
            <a:ext cx="300014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6A7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Use Export to CSV for a record of all vouchers.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566928" y="3840480"/>
            <a:ext cx="3503066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CE2EC"/>
            </a:solidFill>
            <a:prstDash val="solid"/>
          </a:ln>
          <a:effectLst>
            <a:outerShdw sx="100000" sy="100000" kx="0" ky="0" algn="bl" rotWithShape="0" blurRad="114300" dist="38100" dir="5400000">
              <a:srgbClr val="0F1A2E">
                <a:alpha val="12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795528" y="4096512"/>
            <a:ext cx="310896" cy="310896"/>
          </a:xfrm>
          <a:prstGeom prst="ellipse">
            <a:avLst/>
          </a:prstGeom>
          <a:solidFill>
            <a:srgbClr val="E8F0FF"/>
          </a:solidFill>
          <a:ln/>
        </p:spPr>
      </p:sp>
      <p:sp>
        <p:nvSpPr>
          <p:cNvPr id="21" name="Shape 19"/>
          <p:cNvSpPr/>
          <p:nvPr/>
        </p:nvSpPr>
        <p:spPr>
          <a:xfrm>
            <a:off x="886968" y="4187952"/>
            <a:ext cx="128016" cy="128016"/>
          </a:xfrm>
          <a:prstGeom prst="ellipse">
            <a:avLst/>
          </a:prstGeom>
          <a:solidFill>
            <a:srgbClr val="2F6BFF"/>
          </a:solidFill>
          <a:ln/>
        </p:spPr>
      </p:sp>
      <p:sp>
        <p:nvSpPr>
          <p:cNvPr id="22" name="Text 20"/>
          <p:cNvSpPr/>
          <p:nvPr/>
        </p:nvSpPr>
        <p:spPr>
          <a:xfrm>
            <a:off x="1225296" y="4059936"/>
            <a:ext cx="26801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 is safe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822960" y="4553712"/>
            <a:ext cx="300014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6A7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Stored in PostgreSQL — survives restarts &amp; redeploys.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4344314" y="3840480"/>
            <a:ext cx="3503066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CE2EC"/>
            </a:solidFill>
            <a:prstDash val="solid"/>
          </a:ln>
          <a:effectLst>
            <a:outerShdw sx="100000" sy="100000" kx="0" ky="0" algn="bl" rotWithShape="0" blurRad="114300" dist="38100" dir="5400000">
              <a:srgbClr val="0F1A2E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572914" y="4096512"/>
            <a:ext cx="310896" cy="310896"/>
          </a:xfrm>
          <a:prstGeom prst="ellipse">
            <a:avLst/>
          </a:prstGeom>
          <a:solidFill>
            <a:srgbClr val="E8F0FF"/>
          </a:solidFill>
          <a:ln/>
        </p:spPr>
      </p:sp>
      <p:sp>
        <p:nvSpPr>
          <p:cNvPr id="26" name="Shape 24"/>
          <p:cNvSpPr/>
          <p:nvPr/>
        </p:nvSpPr>
        <p:spPr>
          <a:xfrm>
            <a:off x="4664354" y="4187952"/>
            <a:ext cx="128016" cy="128016"/>
          </a:xfrm>
          <a:prstGeom prst="ellipse">
            <a:avLst/>
          </a:prstGeom>
          <a:solidFill>
            <a:srgbClr val="2F6BFF"/>
          </a:solidFill>
          <a:ln/>
        </p:spPr>
      </p:sp>
      <p:sp>
        <p:nvSpPr>
          <p:cNvPr id="27" name="Text 25"/>
          <p:cNvSpPr/>
          <p:nvPr/>
        </p:nvSpPr>
        <p:spPr>
          <a:xfrm>
            <a:off x="5002682" y="4059936"/>
            <a:ext cx="26801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Updates auto-deploy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4600346" y="4553712"/>
            <a:ext cx="300014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6A7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Pushing to the GitHub repo redeploys the site.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8121701" y="3840480"/>
            <a:ext cx="3503066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12700">
            <a:solidFill>
              <a:srgbClr val="DCE2EC"/>
            </a:solidFill>
            <a:prstDash val="solid"/>
          </a:ln>
          <a:effectLst>
            <a:outerShdw sx="100000" sy="100000" kx="0" ky="0" algn="bl" rotWithShape="0" blurRad="114300" dist="38100" dir="5400000">
              <a:srgbClr val="0F1A2E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350301" y="4096512"/>
            <a:ext cx="310896" cy="310896"/>
          </a:xfrm>
          <a:prstGeom prst="ellipse">
            <a:avLst/>
          </a:prstGeom>
          <a:solidFill>
            <a:srgbClr val="E8F0FF"/>
          </a:solidFill>
          <a:ln/>
        </p:spPr>
      </p:sp>
      <p:sp>
        <p:nvSpPr>
          <p:cNvPr id="31" name="Shape 29"/>
          <p:cNvSpPr/>
          <p:nvPr/>
        </p:nvSpPr>
        <p:spPr>
          <a:xfrm>
            <a:off x="8441741" y="4187952"/>
            <a:ext cx="128016" cy="128016"/>
          </a:xfrm>
          <a:prstGeom prst="ellipse">
            <a:avLst/>
          </a:prstGeom>
          <a:solidFill>
            <a:srgbClr val="2F6BFF"/>
          </a:solidFill>
          <a:ln/>
        </p:spPr>
      </p:sp>
      <p:sp>
        <p:nvSpPr>
          <p:cNvPr id="32" name="Text 30"/>
          <p:cNvSpPr/>
          <p:nvPr/>
        </p:nvSpPr>
        <p:spPr>
          <a:xfrm>
            <a:off x="8780069" y="4059936"/>
            <a:ext cx="268010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Correct daily reset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8377733" y="4553712"/>
            <a:ext cx="300014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C6A7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Limits reset at the event’s local midnight (timezone-aware).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66928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AFC Asian Cup 2027  ·  Media Hub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0710367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227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0E9F6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15544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500" kern="0" dirty="0">
                <a:solidFill>
                  <a:srgbClr val="6BE0A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PART 2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566928" y="20116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For Media Clients</a:t>
            </a:r>
            <a:endParaRPr lang="en-US" sz="4600" dirty="0"/>
          </a:p>
        </p:txBody>
      </p:sp>
      <p:sp>
        <p:nvSpPr>
          <p:cNvPr id="5" name="Text 3"/>
          <p:cNvSpPr/>
          <p:nvPr/>
        </p:nvSpPr>
        <p:spPr>
          <a:xfrm>
            <a:off x="566928" y="3063240"/>
            <a:ext cx="8686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FE8DC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Get it on your phone in under a minute — from anywhere.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566928" y="4114800"/>
            <a:ext cx="2057400" cy="868680"/>
          </a:xfrm>
          <a:prstGeom prst="roundRect">
            <a:avLst>
              <a:gd name="adj" fmla="val 12632"/>
            </a:avLst>
          </a:prstGeom>
          <a:solidFill>
            <a:srgbClr val="143E30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422452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9F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731520" y="420624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DFF3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 the link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2779776" y="4114800"/>
            <a:ext cx="2057400" cy="868680"/>
          </a:xfrm>
          <a:prstGeom prst="roundRect">
            <a:avLst>
              <a:gd name="adj" fmla="val 12632"/>
            </a:avLst>
          </a:prstGeom>
          <a:solidFill>
            <a:srgbClr val="143E30"/>
          </a:solidFill>
          <a:ln/>
        </p:spPr>
      </p:sp>
      <p:sp>
        <p:nvSpPr>
          <p:cNvPr id="10" name="Text 8"/>
          <p:cNvSpPr/>
          <p:nvPr/>
        </p:nvSpPr>
        <p:spPr>
          <a:xfrm>
            <a:off x="2944368" y="422452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9F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2944368" y="420624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DFF3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 to Home Screen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992624" y="4114800"/>
            <a:ext cx="2057400" cy="868680"/>
          </a:xfrm>
          <a:prstGeom prst="roundRect">
            <a:avLst>
              <a:gd name="adj" fmla="val 12632"/>
            </a:avLst>
          </a:prstGeom>
          <a:solidFill>
            <a:srgbClr val="143E30"/>
          </a:solidFill>
          <a:ln/>
        </p:spPr>
      </p:sp>
      <p:sp>
        <p:nvSpPr>
          <p:cNvPr id="13" name="Text 11"/>
          <p:cNvSpPr/>
          <p:nvPr/>
        </p:nvSpPr>
        <p:spPr>
          <a:xfrm>
            <a:off x="5157216" y="422452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9F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5157216" y="420624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DFF3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Request a voucher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205472" y="4114800"/>
            <a:ext cx="2057400" cy="868680"/>
          </a:xfrm>
          <a:prstGeom prst="roundRect">
            <a:avLst>
              <a:gd name="adj" fmla="val 12632"/>
            </a:avLst>
          </a:prstGeom>
          <a:solidFill>
            <a:srgbClr val="143E30"/>
          </a:solidFill>
          <a:ln/>
        </p:spPr>
      </p:sp>
      <p:sp>
        <p:nvSpPr>
          <p:cNvPr id="16" name="Text 14"/>
          <p:cNvSpPr/>
          <p:nvPr/>
        </p:nvSpPr>
        <p:spPr>
          <a:xfrm>
            <a:off x="7370064" y="422452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9F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7370064" y="420624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DFF3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Find it anytime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9418320" y="4114800"/>
            <a:ext cx="2057400" cy="868680"/>
          </a:xfrm>
          <a:prstGeom prst="roundRect">
            <a:avLst>
              <a:gd name="adj" fmla="val 12632"/>
            </a:avLst>
          </a:prstGeom>
          <a:solidFill>
            <a:srgbClr val="143E30"/>
          </a:solidFill>
          <a:ln/>
        </p:spPr>
      </p:sp>
      <p:sp>
        <p:nvSpPr>
          <p:cNvPr id="19" name="Text 17"/>
          <p:cNvSpPr/>
          <p:nvPr/>
        </p:nvSpPr>
        <p:spPr>
          <a:xfrm>
            <a:off x="9582912" y="4224528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rgbClr val="0E9F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9582912" y="4206240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b="1" dirty="0">
                <a:solidFill>
                  <a:srgbClr val="DFF3E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Explore the hub</a:t>
            </a:r>
            <a:endParaRPr lang="en-US" sz="1050" dirty="0"/>
          </a:p>
        </p:txBody>
      </p:sp>
      <p:sp>
        <p:nvSpPr>
          <p:cNvPr id="21" name="Text 19"/>
          <p:cNvSpPr/>
          <p:nvPr/>
        </p:nvSpPr>
        <p:spPr>
          <a:xfrm>
            <a:off x="566928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3A4C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AFC Asian Cup 2027  ·  Media Hub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10710367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4C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48640"/>
            <a:ext cx="548640" cy="548640"/>
          </a:xfrm>
          <a:prstGeom prst="ellipse">
            <a:avLst/>
          </a:prstGeom>
          <a:solidFill>
            <a:srgbClr val="0E9F6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548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344168" y="566928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 the Media Hub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344168" y="11704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 1 of 5  ·  Media Clients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66928" y="1920240"/>
            <a:ext cx="384048" cy="384048"/>
          </a:xfrm>
          <a:prstGeom prst="ellipse">
            <a:avLst/>
          </a:prstGeom>
          <a:solidFill>
            <a:srgbClr val="0E9F6E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115568" y="1883664"/>
            <a:ext cx="5303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0F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Scan the QR code
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C6A7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Point your phone camera at the media-desk poster — tap the link.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66928" y="2880360"/>
            <a:ext cx="384048" cy="384048"/>
          </a:xfrm>
          <a:prstGeom prst="ellipse">
            <a:avLst/>
          </a:prstGeom>
          <a:solidFill>
            <a:srgbClr val="0E9F6E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" y="28803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115568" y="2843784"/>
            <a:ext cx="5303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0F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 type the address
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C6A7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afc2027-media-hub.onrender.com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566928" y="3840480"/>
            <a:ext cx="384048" cy="384048"/>
          </a:xfrm>
          <a:prstGeom prst="ellipse">
            <a:avLst/>
          </a:prstGeom>
          <a:solidFill>
            <a:srgbClr val="0E9F6E"/>
          </a:solidFill>
          <a:ln/>
        </p:spPr>
      </p:sp>
      <p:sp>
        <p:nvSpPr>
          <p:cNvPr id="13" name="Text 11"/>
          <p:cNvSpPr/>
          <p:nvPr/>
        </p:nvSpPr>
        <p:spPr>
          <a:xfrm>
            <a:off x="566928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115568" y="3803904"/>
            <a:ext cx="5303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0F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Any network works
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C6A7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Mobile data (4G/5G) or any Wi-Fi — no special network needed.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7772400" y="1828800"/>
            <a:ext cx="3852367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2700">
            <a:solidFill>
              <a:srgbClr val="DCE2EC"/>
            </a:solidFill>
            <a:prstDash val="solid"/>
          </a:ln>
          <a:effectLst>
            <a:outerShdw sx="100000" sy="100000" kx="0" ky="0" algn="bl" rotWithShape="0" blurRad="114300" dist="38100" dir="5400000">
              <a:srgbClr val="0F1A2E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7772400" y="2057400"/>
            <a:ext cx="385236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F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Scan to open</a:t>
            </a:r>
            <a:endParaRPr lang="en-US" sz="1500" dirty="0"/>
          </a:p>
        </p:txBody>
      </p:sp>
      <p:sp>
        <p:nvSpPr>
          <p:cNvPr id="17" name="Shape 15"/>
          <p:cNvSpPr/>
          <p:nvPr/>
        </p:nvSpPr>
        <p:spPr>
          <a:xfrm>
            <a:off x="8921344" y="2514600"/>
            <a:ext cx="1554480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12700">
            <a:solidFill>
              <a:srgbClr val="DCE2E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9107881" y="2701138"/>
            <a:ext cx="330793" cy="330793"/>
          </a:xfrm>
          <a:prstGeom prst="rect">
            <a:avLst/>
          </a:prstGeom>
          <a:solidFill>
            <a:srgbClr val="0E9F6E"/>
          </a:solidFill>
          <a:ln/>
        </p:spPr>
      </p:sp>
      <p:sp>
        <p:nvSpPr>
          <p:cNvPr id="19" name="Shape 17"/>
          <p:cNvSpPr/>
          <p:nvPr/>
        </p:nvSpPr>
        <p:spPr>
          <a:xfrm>
            <a:off x="9180656" y="2773912"/>
            <a:ext cx="185244" cy="1852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0" name="Shape 18"/>
          <p:cNvSpPr/>
          <p:nvPr/>
        </p:nvSpPr>
        <p:spPr>
          <a:xfrm>
            <a:off x="9226967" y="2820223"/>
            <a:ext cx="92622" cy="92622"/>
          </a:xfrm>
          <a:prstGeom prst="rect">
            <a:avLst/>
          </a:prstGeom>
          <a:solidFill>
            <a:srgbClr val="0E9F6E"/>
          </a:solidFill>
          <a:ln/>
        </p:spPr>
      </p:sp>
      <p:sp>
        <p:nvSpPr>
          <p:cNvPr id="21" name="Shape 19"/>
          <p:cNvSpPr/>
          <p:nvPr/>
        </p:nvSpPr>
        <p:spPr>
          <a:xfrm>
            <a:off x="9958493" y="2701138"/>
            <a:ext cx="330793" cy="330793"/>
          </a:xfrm>
          <a:prstGeom prst="rect">
            <a:avLst/>
          </a:prstGeom>
          <a:solidFill>
            <a:srgbClr val="0E9F6E"/>
          </a:solidFill>
          <a:ln/>
        </p:spPr>
      </p:sp>
      <p:sp>
        <p:nvSpPr>
          <p:cNvPr id="22" name="Shape 20"/>
          <p:cNvSpPr/>
          <p:nvPr/>
        </p:nvSpPr>
        <p:spPr>
          <a:xfrm>
            <a:off x="10031267" y="2773912"/>
            <a:ext cx="185244" cy="1852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3" name="Shape 21"/>
          <p:cNvSpPr/>
          <p:nvPr/>
        </p:nvSpPr>
        <p:spPr>
          <a:xfrm>
            <a:off x="10077578" y="2820223"/>
            <a:ext cx="92622" cy="92622"/>
          </a:xfrm>
          <a:prstGeom prst="rect">
            <a:avLst/>
          </a:prstGeom>
          <a:solidFill>
            <a:srgbClr val="0E9F6E"/>
          </a:solidFill>
          <a:ln/>
        </p:spPr>
      </p:sp>
      <p:sp>
        <p:nvSpPr>
          <p:cNvPr id="24" name="Shape 22"/>
          <p:cNvSpPr/>
          <p:nvPr/>
        </p:nvSpPr>
        <p:spPr>
          <a:xfrm>
            <a:off x="9107881" y="3551749"/>
            <a:ext cx="330793" cy="330793"/>
          </a:xfrm>
          <a:prstGeom prst="rect">
            <a:avLst/>
          </a:prstGeom>
          <a:solidFill>
            <a:srgbClr val="0E9F6E"/>
          </a:solidFill>
          <a:ln/>
        </p:spPr>
      </p:sp>
      <p:sp>
        <p:nvSpPr>
          <p:cNvPr id="25" name="Shape 23"/>
          <p:cNvSpPr/>
          <p:nvPr/>
        </p:nvSpPr>
        <p:spPr>
          <a:xfrm>
            <a:off x="9180656" y="3624524"/>
            <a:ext cx="185244" cy="18524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6" name="Shape 24"/>
          <p:cNvSpPr/>
          <p:nvPr/>
        </p:nvSpPr>
        <p:spPr>
          <a:xfrm>
            <a:off x="9226967" y="3670835"/>
            <a:ext cx="92622" cy="92622"/>
          </a:xfrm>
          <a:prstGeom prst="rect">
            <a:avLst/>
          </a:prstGeom>
          <a:solidFill>
            <a:srgbClr val="0E9F6E"/>
          </a:solidFill>
          <a:ln/>
        </p:spPr>
      </p:sp>
      <p:sp>
        <p:nvSpPr>
          <p:cNvPr id="27" name="Shape 25"/>
          <p:cNvSpPr/>
          <p:nvPr/>
        </p:nvSpPr>
        <p:spPr>
          <a:xfrm>
            <a:off x="9646077" y="2714264"/>
            <a:ext cx="105014" cy="105014"/>
          </a:xfrm>
          <a:prstGeom prst="rect">
            <a:avLst/>
          </a:prstGeom>
          <a:solidFill>
            <a:srgbClr val="0E9F6E"/>
          </a:solidFill>
          <a:ln/>
        </p:spPr>
      </p:sp>
      <p:sp>
        <p:nvSpPr>
          <p:cNvPr id="28" name="Shape 26"/>
          <p:cNvSpPr/>
          <p:nvPr/>
        </p:nvSpPr>
        <p:spPr>
          <a:xfrm>
            <a:off x="9514810" y="2845532"/>
            <a:ext cx="105014" cy="105014"/>
          </a:xfrm>
          <a:prstGeom prst="rect">
            <a:avLst/>
          </a:prstGeom>
          <a:solidFill>
            <a:srgbClr val="0E9F6E"/>
          </a:solidFill>
          <a:ln/>
        </p:spPr>
      </p:sp>
      <p:sp>
        <p:nvSpPr>
          <p:cNvPr id="29" name="Shape 27"/>
          <p:cNvSpPr/>
          <p:nvPr/>
        </p:nvSpPr>
        <p:spPr>
          <a:xfrm>
            <a:off x="9646077" y="2845532"/>
            <a:ext cx="105014" cy="105014"/>
          </a:xfrm>
          <a:prstGeom prst="rect">
            <a:avLst/>
          </a:prstGeom>
          <a:solidFill>
            <a:srgbClr val="0E9F6E"/>
          </a:solidFill>
          <a:ln/>
        </p:spPr>
      </p:sp>
      <p:sp>
        <p:nvSpPr>
          <p:cNvPr id="30" name="Shape 28"/>
          <p:cNvSpPr/>
          <p:nvPr/>
        </p:nvSpPr>
        <p:spPr>
          <a:xfrm>
            <a:off x="9646077" y="2976799"/>
            <a:ext cx="105014" cy="105014"/>
          </a:xfrm>
          <a:prstGeom prst="rect">
            <a:avLst/>
          </a:prstGeom>
          <a:solidFill>
            <a:srgbClr val="0E9F6E"/>
          </a:solidFill>
          <a:ln/>
        </p:spPr>
      </p:sp>
      <p:sp>
        <p:nvSpPr>
          <p:cNvPr id="31" name="Shape 29"/>
          <p:cNvSpPr/>
          <p:nvPr/>
        </p:nvSpPr>
        <p:spPr>
          <a:xfrm>
            <a:off x="9252275" y="3108066"/>
            <a:ext cx="105014" cy="105014"/>
          </a:xfrm>
          <a:prstGeom prst="rect">
            <a:avLst/>
          </a:prstGeom>
          <a:solidFill>
            <a:srgbClr val="0E9F6E"/>
          </a:solidFill>
          <a:ln/>
        </p:spPr>
      </p:sp>
      <p:sp>
        <p:nvSpPr>
          <p:cNvPr id="32" name="Shape 30"/>
          <p:cNvSpPr/>
          <p:nvPr/>
        </p:nvSpPr>
        <p:spPr>
          <a:xfrm>
            <a:off x="9646077" y="3108066"/>
            <a:ext cx="105014" cy="105014"/>
          </a:xfrm>
          <a:prstGeom prst="rect">
            <a:avLst/>
          </a:prstGeom>
          <a:solidFill>
            <a:srgbClr val="0E9F6E"/>
          </a:solidFill>
          <a:ln/>
        </p:spPr>
      </p:sp>
      <p:sp>
        <p:nvSpPr>
          <p:cNvPr id="33" name="Shape 31"/>
          <p:cNvSpPr/>
          <p:nvPr/>
        </p:nvSpPr>
        <p:spPr>
          <a:xfrm>
            <a:off x="10039878" y="3108066"/>
            <a:ext cx="105014" cy="105014"/>
          </a:xfrm>
          <a:prstGeom prst="rect">
            <a:avLst/>
          </a:prstGeom>
          <a:solidFill>
            <a:srgbClr val="0E9F6E"/>
          </a:solidFill>
          <a:ln/>
        </p:spPr>
      </p:sp>
      <p:sp>
        <p:nvSpPr>
          <p:cNvPr id="34" name="Shape 32"/>
          <p:cNvSpPr/>
          <p:nvPr/>
        </p:nvSpPr>
        <p:spPr>
          <a:xfrm>
            <a:off x="9252275" y="3239333"/>
            <a:ext cx="105014" cy="105014"/>
          </a:xfrm>
          <a:prstGeom prst="rect">
            <a:avLst/>
          </a:prstGeom>
          <a:solidFill>
            <a:srgbClr val="0E9F6E"/>
          </a:solidFill>
          <a:ln/>
        </p:spPr>
      </p:sp>
      <p:sp>
        <p:nvSpPr>
          <p:cNvPr id="35" name="Shape 33"/>
          <p:cNvSpPr/>
          <p:nvPr/>
        </p:nvSpPr>
        <p:spPr>
          <a:xfrm>
            <a:off x="9383542" y="3239333"/>
            <a:ext cx="105014" cy="105014"/>
          </a:xfrm>
          <a:prstGeom prst="rect">
            <a:avLst/>
          </a:prstGeom>
          <a:solidFill>
            <a:srgbClr val="0E9F6E"/>
          </a:solidFill>
          <a:ln/>
        </p:spPr>
      </p:sp>
      <p:sp>
        <p:nvSpPr>
          <p:cNvPr id="36" name="Shape 34"/>
          <p:cNvSpPr/>
          <p:nvPr/>
        </p:nvSpPr>
        <p:spPr>
          <a:xfrm>
            <a:off x="9777344" y="3239333"/>
            <a:ext cx="105014" cy="105014"/>
          </a:xfrm>
          <a:prstGeom prst="rect">
            <a:avLst/>
          </a:prstGeom>
          <a:solidFill>
            <a:srgbClr val="0E9F6E"/>
          </a:solidFill>
          <a:ln/>
        </p:spPr>
      </p:sp>
      <p:sp>
        <p:nvSpPr>
          <p:cNvPr id="37" name="Shape 35"/>
          <p:cNvSpPr/>
          <p:nvPr/>
        </p:nvSpPr>
        <p:spPr>
          <a:xfrm>
            <a:off x="9908611" y="3239333"/>
            <a:ext cx="105014" cy="105014"/>
          </a:xfrm>
          <a:prstGeom prst="rect">
            <a:avLst/>
          </a:prstGeom>
          <a:solidFill>
            <a:srgbClr val="0E9F6E"/>
          </a:solidFill>
          <a:ln/>
        </p:spPr>
      </p:sp>
      <p:sp>
        <p:nvSpPr>
          <p:cNvPr id="38" name="Shape 36"/>
          <p:cNvSpPr/>
          <p:nvPr/>
        </p:nvSpPr>
        <p:spPr>
          <a:xfrm>
            <a:off x="10039878" y="3239333"/>
            <a:ext cx="105014" cy="105014"/>
          </a:xfrm>
          <a:prstGeom prst="rect">
            <a:avLst/>
          </a:prstGeom>
          <a:solidFill>
            <a:srgbClr val="0E9F6E"/>
          </a:solidFill>
          <a:ln/>
        </p:spPr>
      </p:sp>
      <p:sp>
        <p:nvSpPr>
          <p:cNvPr id="39" name="Shape 37"/>
          <p:cNvSpPr/>
          <p:nvPr/>
        </p:nvSpPr>
        <p:spPr>
          <a:xfrm>
            <a:off x="9121008" y="3370600"/>
            <a:ext cx="105014" cy="105014"/>
          </a:xfrm>
          <a:prstGeom prst="rect">
            <a:avLst/>
          </a:prstGeom>
          <a:solidFill>
            <a:srgbClr val="0E9F6E"/>
          </a:solidFill>
          <a:ln/>
        </p:spPr>
      </p:sp>
      <p:sp>
        <p:nvSpPr>
          <p:cNvPr id="40" name="Shape 38"/>
          <p:cNvSpPr/>
          <p:nvPr/>
        </p:nvSpPr>
        <p:spPr>
          <a:xfrm>
            <a:off x="9252275" y="3370600"/>
            <a:ext cx="105014" cy="105014"/>
          </a:xfrm>
          <a:prstGeom prst="rect">
            <a:avLst/>
          </a:prstGeom>
          <a:solidFill>
            <a:srgbClr val="0E9F6E"/>
          </a:solidFill>
          <a:ln/>
        </p:spPr>
      </p:sp>
      <p:sp>
        <p:nvSpPr>
          <p:cNvPr id="41" name="Shape 39"/>
          <p:cNvSpPr/>
          <p:nvPr/>
        </p:nvSpPr>
        <p:spPr>
          <a:xfrm>
            <a:off x="9383542" y="3370600"/>
            <a:ext cx="105014" cy="105014"/>
          </a:xfrm>
          <a:prstGeom prst="rect">
            <a:avLst/>
          </a:prstGeom>
          <a:solidFill>
            <a:srgbClr val="0E9F6E"/>
          </a:solidFill>
          <a:ln/>
        </p:spPr>
      </p:sp>
      <p:sp>
        <p:nvSpPr>
          <p:cNvPr id="42" name="Shape 40"/>
          <p:cNvSpPr/>
          <p:nvPr/>
        </p:nvSpPr>
        <p:spPr>
          <a:xfrm>
            <a:off x="9514810" y="3370600"/>
            <a:ext cx="105014" cy="105014"/>
          </a:xfrm>
          <a:prstGeom prst="rect">
            <a:avLst/>
          </a:prstGeom>
          <a:solidFill>
            <a:srgbClr val="0E9F6E"/>
          </a:solidFill>
          <a:ln/>
        </p:spPr>
      </p:sp>
      <p:sp>
        <p:nvSpPr>
          <p:cNvPr id="43" name="Shape 41"/>
          <p:cNvSpPr/>
          <p:nvPr/>
        </p:nvSpPr>
        <p:spPr>
          <a:xfrm>
            <a:off x="9646077" y="3370600"/>
            <a:ext cx="105014" cy="105014"/>
          </a:xfrm>
          <a:prstGeom prst="rect">
            <a:avLst/>
          </a:prstGeom>
          <a:solidFill>
            <a:srgbClr val="0E9F6E"/>
          </a:solidFill>
          <a:ln/>
        </p:spPr>
      </p:sp>
      <p:sp>
        <p:nvSpPr>
          <p:cNvPr id="44" name="Shape 42"/>
          <p:cNvSpPr/>
          <p:nvPr/>
        </p:nvSpPr>
        <p:spPr>
          <a:xfrm>
            <a:off x="10039878" y="3370600"/>
            <a:ext cx="105014" cy="105014"/>
          </a:xfrm>
          <a:prstGeom prst="rect">
            <a:avLst/>
          </a:prstGeom>
          <a:solidFill>
            <a:srgbClr val="0E9F6E"/>
          </a:solidFill>
          <a:ln/>
        </p:spPr>
      </p:sp>
      <p:sp>
        <p:nvSpPr>
          <p:cNvPr id="45" name="Shape 43"/>
          <p:cNvSpPr/>
          <p:nvPr/>
        </p:nvSpPr>
        <p:spPr>
          <a:xfrm>
            <a:off x="10171146" y="3370600"/>
            <a:ext cx="105014" cy="105014"/>
          </a:xfrm>
          <a:prstGeom prst="rect">
            <a:avLst/>
          </a:prstGeom>
          <a:solidFill>
            <a:srgbClr val="0E9F6E"/>
          </a:solidFill>
          <a:ln/>
        </p:spPr>
      </p:sp>
      <p:sp>
        <p:nvSpPr>
          <p:cNvPr id="46" name="Shape 44"/>
          <p:cNvSpPr/>
          <p:nvPr/>
        </p:nvSpPr>
        <p:spPr>
          <a:xfrm>
            <a:off x="9646077" y="3501868"/>
            <a:ext cx="105014" cy="105014"/>
          </a:xfrm>
          <a:prstGeom prst="rect">
            <a:avLst/>
          </a:prstGeom>
          <a:solidFill>
            <a:srgbClr val="0E9F6E"/>
          </a:solidFill>
          <a:ln/>
        </p:spPr>
      </p:sp>
      <p:sp>
        <p:nvSpPr>
          <p:cNvPr id="47" name="Shape 45"/>
          <p:cNvSpPr/>
          <p:nvPr/>
        </p:nvSpPr>
        <p:spPr>
          <a:xfrm>
            <a:off x="9646077" y="3633135"/>
            <a:ext cx="105014" cy="105014"/>
          </a:xfrm>
          <a:prstGeom prst="rect">
            <a:avLst/>
          </a:prstGeom>
          <a:solidFill>
            <a:srgbClr val="0E9F6E"/>
          </a:solidFill>
          <a:ln/>
        </p:spPr>
      </p:sp>
      <p:sp>
        <p:nvSpPr>
          <p:cNvPr id="48" name="Shape 46"/>
          <p:cNvSpPr/>
          <p:nvPr/>
        </p:nvSpPr>
        <p:spPr>
          <a:xfrm>
            <a:off x="9777344" y="3633135"/>
            <a:ext cx="105014" cy="105014"/>
          </a:xfrm>
          <a:prstGeom prst="rect">
            <a:avLst/>
          </a:prstGeom>
          <a:solidFill>
            <a:srgbClr val="0E9F6E"/>
          </a:solidFill>
          <a:ln/>
        </p:spPr>
      </p:sp>
      <p:sp>
        <p:nvSpPr>
          <p:cNvPr id="49" name="Shape 47"/>
          <p:cNvSpPr/>
          <p:nvPr/>
        </p:nvSpPr>
        <p:spPr>
          <a:xfrm>
            <a:off x="9777344" y="3764402"/>
            <a:ext cx="105014" cy="105014"/>
          </a:xfrm>
          <a:prstGeom prst="rect">
            <a:avLst/>
          </a:prstGeom>
          <a:solidFill>
            <a:srgbClr val="0E9F6E"/>
          </a:solidFill>
          <a:ln/>
        </p:spPr>
      </p:sp>
      <p:sp>
        <p:nvSpPr>
          <p:cNvPr id="50" name="Shape 48"/>
          <p:cNvSpPr/>
          <p:nvPr/>
        </p:nvSpPr>
        <p:spPr>
          <a:xfrm>
            <a:off x="10039878" y="3764402"/>
            <a:ext cx="105014" cy="105014"/>
          </a:xfrm>
          <a:prstGeom prst="rect">
            <a:avLst/>
          </a:prstGeom>
          <a:solidFill>
            <a:srgbClr val="0E9F6E"/>
          </a:solidFill>
          <a:ln/>
        </p:spPr>
      </p:sp>
      <p:sp>
        <p:nvSpPr>
          <p:cNvPr id="51" name="Shape 49"/>
          <p:cNvSpPr/>
          <p:nvPr/>
        </p:nvSpPr>
        <p:spPr>
          <a:xfrm>
            <a:off x="10171146" y="3764402"/>
            <a:ext cx="105014" cy="105014"/>
          </a:xfrm>
          <a:prstGeom prst="rect">
            <a:avLst/>
          </a:prstGeom>
          <a:solidFill>
            <a:srgbClr val="0E9F6E"/>
          </a:solidFill>
          <a:ln/>
        </p:spPr>
      </p:sp>
      <p:sp>
        <p:nvSpPr>
          <p:cNvPr id="52" name="Shape 50"/>
          <p:cNvSpPr/>
          <p:nvPr/>
        </p:nvSpPr>
        <p:spPr>
          <a:xfrm>
            <a:off x="8001000" y="4343400"/>
            <a:ext cx="3395167" cy="384048"/>
          </a:xfrm>
          <a:prstGeom prst="roundRect">
            <a:avLst>
              <a:gd name="adj" fmla="val 50000"/>
            </a:avLst>
          </a:prstGeom>
          <a:solidFill>
            <a:srgbClr val="0E9F6E"/>
          </a:solidFill>
          <a:ln/>
        </p:spPr>
      </p:sp>
      <p:sp>
        <p:nvSpPr>
          <p:cNvPr id="53" name="Text 51"/>
          <p:cNvSpPr/>
          <p:nvPr/>
        </p:nvSpPr>
        <p:spPr>
          <a:xfrm>
            <a:off x="8001000" y="4343400"/>
            <a:ext cx="3395167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afc2027-media-hub.onrender.com</a:t>
            </a:r>
            <a:endParaRPr lang="en-US" sz="1050" dirty="0"/>
          </a:p>
        </p:txBody>
      </p:sp>
      <p:sp>
        <p:nvSpPr>
          <p:cNvPr id="54" name="Text 52"/>
          <p:cNvSpPr/>
          <p:nvPr/>
        </p:nvSpPr>
        <p:spPr>
          <a:xfrm>
            <a:off x="566928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AFC Asian Cup 2027  ·  Media Hub</a:t>
            </a:r>
            <a:endParaRPr lang="en-US" sz="900" dirty="0"/>
          </a:p>
        </p:txBody>
      </p:sp>
      <p:sp>
        <p:nvSpPr>
          <p:cNvPr id="55" name="Text 53"/>
          <p:cNvSpPr/>
          <p:nvPr/>
        </p:nvSpPr>
        <p:spPr>
          <a:xfrm>
            <a:off x="10710367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48640"/>
            <a:ext cx="548640" cy="548640"/>
          </a:xfrm>
          <a:prstGeom prst="ellipse">
            <a:avLst/>
          </a:prstGeom>
          <a:solidFill>
            <a:srgbClr val="0E9F6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548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344168" y="566928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 it to your home screen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344168" y="11704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 2 of 5  ·  Media Clients  ·  it then opens like an app, full-screen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66928" y="1874520"/>
            <a:ext cx="534924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DCE2EC"/>
            </a:solidFill>
            <a:prstDash val="solid"/>
          </a:ln>
          <a:effectLst>
            <a:outerShdw sx="100000" sy="100000" kx="0" ky="0" algn="bl" rotWithShape="0" blurRad="114300" dist="38100" dir="5400000">
              <a:srgbClr val="0F1A2E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841248" y="2130552"/>
            <a:ext cx="2194560" cy="411480"/>
          </a:xfrm>
          <a:prstGeom prst="roundRect">
            <a:avLst>
              <a:gd name="adj" fmla="val 50000"/>
            </a:avLst>
          </a:prstGeom>
          <a:solidFill>
            <a:srgbClr val="0F1A2E"/>
          </a:solidFill>
          <a:ln/>
        </p:spPr>
      </p:sp>
      <p:sp>
        <p:nvSpPr>
          <p:cNvPr id="8" name="Text 6"/>
          <p:cNvSpPr/>
          <p:nvPr/>
        </p:nvSpPr>
        <p:spPr>
          <a:xfrm>
            <a:off x="841248" y="2130552"/>
            <a:ext cx="21945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iPhone — Safari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86968" y="2788920"/>
            <a:ext cx="384048" cy="384048"/>
          </a:xfrm>
          <a:prstGeom prst="ellipse">
            <a:avLst/>
          </a:prstGeom>
          <a:solidFill>
            <a:srgbClr val="0E9F6E"/>
          </a:solidFill>
          <a:ln/>
        </p:spPr>
      </p:sp>
      <p:sp>
        <p:nvSpPr>
          <p:cNvPr id="10" name="Text 8"/>
          <p:cNvSpPr/>
          <p:nvPr/>
        </p:nvSpPr>
        <p:spPr>
          <a:xfrm>
            <a:off x="886968" y="2788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435608" y="2752344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0F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Tap the Share button
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C6A7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square with an up-arrow.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886968" y="3474720"/>
            <a:ext cx="384048" cy="384048"/>
          </a:xfrm>
          <a:prstGeom prst="ellipse">
            <a:avLst/>
          </a:prstGeom>
          <a:solidFill>
            <a:srgbClr val="0E9F6E"/>
          </a:solidFill>
          <a:ln/>
        </p:spPr>
      </p:sp>
      <p:sp>
        <p:nvSpPr>
          <p:cNvPr id="13" name="Text 11"/>
          <p:cNvSpPr/>
          <p:nvPr/>
        </p:nvSpPr>
        <p:spPr>
          <a:xfrm>
            <a:off x="886968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435608" y="3438144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0F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Tap “Add to Home Screen”
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C6A7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Scroll the share sheet to find it.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886968" y="4160520"/>
            <a:ext cx="384048" cy="384048"/>
          </a:xfrm>
          <a:prstGeom prst="ellipse">
            <a:avLst/>
          </a:prstGeom>
          <a:solidFill>
            <a:srgbClr val="0E9F6E"/>
          </a:solidFill>
          <a:ln/>
        </p:spPr>
      </p:sp>
      <p:sp>
        <p:nvSpPr>
          <p:cNvPr id="16" name="Text 14"/>
          <p:cNvSpPr/>
          <p:nvPr/>
        </p:nvSpPr>
        <p:spPr>
          <a:xfrm>
            <a:off x="886968" y="4160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435608" y="4123944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0F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Tap “Add”
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C6A7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icon appears on your home screen.</a:t>
            </a:r>
            <a:endParaRPr lang="en-US" sz="1450" dirty="0"/>
          </a:p>
        </p:txBody>
      </p:sp>
      <p:sp>
        <p:nvSpPr>
          <p:cNvPr id="18" name="Shape 16"/>
          <p:cNvSpPr/>
          <p:nvPr/>
        </p:nvSpPr>
        <p:spPr>
          <a:xfrm>
            <a:off x="4681728" y="2788920"/>
            <a:ext cx="960120" cy="1920240"/>
          </a:xfrm>
          <a:prstGeom prst="roundRect">
            <a:avLst>
              <a:gd name="adj" fmla="val 20952"/>
            </a:avLst>
          </a:prstGeom>
          <a:solidFill>
            <a:srgbClr val="0B1A33"/>
          </a:solidFill>
          <a:ln/>
          <a:effectLst>
            <a:outerShdw sx="100000" sy="100000" kx="0" ky="0" algn="bl" rotWithShape="0" blurRad="114300" dist="38100" dir="5400000">
              <a:srgbClr val="0F1A2E">
                <a:alpha val="12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773168" y="2880360"/>
            <a:ext cx="777240" cy="1737360"/>
          </a:xfrm>
          <a:prstGeom prst="roundRect">
            <a:avLst>
              <a:gd name="adj" fmla="val 18824"/>
            </a:avLst>
          </a:prstGeom>
          <a:solidFill>
            <a:srgbClr val="FFFFFF"/>
          </a:solidFill>
          <a:ln/>
        </p:spPr>
      </p:sp>
      <p:sp>
        <p:nvSpPr>
          <p:cNvPr id="20" name="Shape 18"/>
          <p:cNvSpPr/>
          <p:nvPr/>
        </p:nvSpPr>
        <p:spPr>
          <a:xfrm>
            <a:off x="4933188" y="324612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2F6BFF"/>
          </a:solidFill>
          <a:ln/>
        </p:spPr>
      </p:sp>
      <p:sp>
        <p:nvSpPr>
          <p:cNvPr id="21" name="Text 19"/>
          <p:cNvSpPr/>
          <p:nvPr/>
        </p:nvSpPr>
        <p:spPr>
          <a:xfrm>
            <a:off x="4773168" y="3749040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Hub</a:t>
            </a:r>
            <a:endParaRPr lang="en-US" sz="700" dirty="0"/>
          </a:p>
        </p:txBody>
      </p:sp>
      <p:sp>
        <p:nvSpPr>
          <p:cNvPr id="22" name="Shape 20"/>
          <p:cNvSpPr/>
          <p:nvPr/>
        </p:nvSpPr>
        <p:spPr>
          <a:xfrm>
            <a:off x="6275527" y="1874520"/>
            <a:ext cx="534924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12700">
            <a:solidFill>
              <a:srgbClr val="DCE2EC"/>
            </a:solidFill>
            <a:prstDash val="solid"/>
          </a:ln>
          <a:effectLst>
            <a:outerShdw sx="100000" sy="100000" kx="0" ky="0" algn="bl" rotWithShape="0" blurRad="114300" dist="38100" dir="5400000">
              <a:srgbClr val="0F1A2E">
                <a:alpha val="12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549847" y="2130552"/>
            <a:ext cx="2286000" cy="411480"/>
          </a:xfrm>
          <a:prstGeom prst="roundRect">
            <a:avLst>
              <a:gd name="adj" fmla="val 50000"/>
            </a:avLst>
          </a:prstGeom>
          <a:solidFill>
            <a:srgbClr val="0F1A2E"/>
          </a:solidFill>
          <a:ln/>
        </p:spPr>
      </p:sp>
      <p:sp>
        <p:nvSpPr>
          <p:cNvPr id="24" name="Text 22"/>
          <p:cNvSpPr/>
          <p:nvPr/>
        </p:nvSpPr>
        <p:spPr>
          <a:xfrm>
            <a:off x="6549847" y="2130552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Android — Chrome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595567" y="2788920"/>
            <a:ext cx="384048" cy="384048"/>
          </a:xfrm>
          <a:prstGeom prst="ellipse">
            <a:avLst/>
          </a:prstGeom>
          <a:solidFill>
            <a:srgbClr val="0E9F6E"/>
          </a:solidFill>
          <a:ln/>
        </p:spPr>
      </p:sp>
      <p:sp>
        <p:nvSpPr>
          <p:cNvPr id="26" name="Text 24"/>
          <p:cNvSpPr/>
          <p:nvPr/>
        </p:nvSpPr>
        <p:spPr>
          <a:xfrm>
            <a:off x="6595567" y="2788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7144207" y="2752344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0F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Tap the ⋮ menu
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C6A7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Top-right of Chrome.</a:t>
            </a:r>
            <a:endParaRPr lang="en-US" sz="1450" dirty="0"/>
          </a:p>
        </p:txBody>
      </p:sp>
      <p:sp>
        <p:nvSpPr>
          <p:cNvPr id="28" name="Shape 26"/>
          <p:cNvSpPr/>
          <p:nvPr/>
        </p:nvSpPr>
        <p:spPr>
          <a:xfrm>
            <a:off x="6595567" y="3474720"/>
            <a:ext cx="384048" cy="384048"/>
          </a:xfrm>
          <a:prstGeom prst="ellipse">
            <a:avLst/>
          </a:prstGeom>
          <a:solidFill>
            <a:srgbClr val="0E9F6E"/>
          </a:solidFill>
          <a:ln/>
        </p:spPr>
      </p:sp>
      <p:sp>
        <p:nvSpPr>
          <p:cNvPr id="29" name="Text 27"/>
          <p:cNvSpPr/>
          <p:nvPr/>
        </p:nvSpPr>
        <p:spPr>
          <a:xfrm>
            <a:off x="6595567" y="34747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7144207" y="3438144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0F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Tap “Add to Home screen”
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C6A7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Or “Install app”.</a:t>
            </a:r>
            <a:endParaRPr lang="en-US" sz="1450" dirty="0"/>
          </a:p>
        </p:txBody>
      </p:sp>
      <p:sp>
        <p:nvSpPr>
          <p:cNvPr id="31" name="Shape 29"/>
          <p:cNvSpPr/>
          <p:nvPr/>
        </p:nvSpPr>
        <p:spPr>
          <a:xfrm>
            <a:off x="6595567" y="4160520"/>
            <a:ext cx="384048" cy="384048"/>
          </a:xfrm>
          <a:prstGeom prst="ellipse">
            <a:avLst/>
          </a:prstGeom>
          <a:solidFill>
            <a:srgbClr val="0E9F6E"/>
          </a:solidFill>
          <a:ln/>
        </p:spPr>
      </p:sp>
      <p:sp>
        <p:nvSpPr>
          <p:cNvPr id="32" name="Text 30"/>
          <p:cNvSpPr/>
          <p:nvPr/>
        </p:nvSpPr>
        <p:spPr>
          <a:xfrm>
            <a:off x="6595567" y="41605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7144207" y="4123944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0F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Tap “Add” / “Install”
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C6A7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icon appears in your app drawer.</a:t>
            </a:r>
            <a:endParaRPr lang="en-US" sz="1450" dirty="0"/>
          </a:p>
        </p:txBody>
      </p:sp>
      <p:sp>
        <p:nvSpPr>
          <p:cNvPr id="34" name="Shape 32"/>
          <p:cNvSpPr/>
          <p:nvPr/>
        </p:nvSpPr>
        <p:spPr>
          <a:xfrm>
            <a:off x="10390327" y="2788920"/>
            <a:ext cx="960120" cy="1920240"/>
          </a:xfrm>
          <a:prstGeom prst="roundRect">
            <a:avLst>
              <a:gd name="adj" fmla="val 20952"/>
            </a:avLst>
          </a:prstGeom>
          <a:solidFill>
            <a:srgbClr val="0B1A33"/>
          </a:solidFill>
          <a:ln/>
          <a:effectLst>
            <a:outerShdw sx="100000" sy="100000" kx="0" ky="0" algn="bl" rotWithShape="0" blurRad="114300" dist="38100" dir="5400000">
              <a:srgbClr val="0F1A2E">
                <a:alpha val="12000"/>
              </a:srgbClr>
            </a:outerShdw>
          </a:effectLst>
        </p:spPr>
      </p:sp>
      <p:sp>
        <p:nvSpPr>
          <p:cNvPr id="35" name="Shape 33"/>
          <p:cNvSpPr/>
          <p:nvPr/>
        </p:nvSpPr>
        <p:spPr>
          <a:xfrm>
            <a:off x="10481767" y="2880360"/>
            <a:ext cx="777240" cy="1737360"/>
          </a:xfrm>
          <a:prstGeom prst="roundRect">
            <a:avLst>
              <a:gd name="adj" fmla="val 18824"/>
            </a:avLst>
          </a:prstGeom>
          <a:solidFill>
            <a:srgbClr val="FFFFFF"/>
          </a:solidFill>
          <a:ln/>
        </p:spPr>
      </p:sp>
      <p:sp>
        <p:nvSpPr>
          <p:cNvPr id="36" name="Shape 34"/>
          <p:cNvSpPr/>
          <p:nvPr/>
        </p:nvSpPr>
        <p:spPr>
          <a:xfrm>
            <a:off x="10641787" y="3246120"/>
            <a:ext cx="457200" cy="457200"/>
          </a:xfrm>
          <a:prstGeom prst="roundRect">
            <a:avLst>
              <a:gd name="adj" fmla="val 24000"/>
            </a:avLst>
          </a:prstGeom>
          <a:solidFill>
            <a:srgbClr val="2F6BFF"/>
          </a:solidFill>
          <a:ln/>
        </p:spPr>
      </p:sp>
      <p:sp>
        <p:nvSpPr>
          <p:cNvPr id="37" name="Text 35"/>
          <p:cNvSpPr/>
          <p:nvPr/>
        </p:nvSpPr>
        <p:spPr>
          <a:xfrm>
            <a:off x="10481767" y="3749040"/>
            <a:ext cx="7772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F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Hub</a:t>
            </a:r>
            <a:endParaRPr lang="en-US" sz="700" dirty="0"/>
          </a:p>
        </p:txBody>
      </p:sp>
      <p:sp>
        <p:nvSpPr>
          <p:cNvPr id="38" name="Text 36"/>
          <p:cNvSpPr/>
          <p:nvPr/>
        </p:nvSpPr>
        <p:spPr>
          <a:xfrm>
            <a:off x="566928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AFC Asian Cup 2027  ·  Media Hub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10710367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48640"/>
            <a:ext cx="548640" cy="548640"/>
          </a:xfrm>
          <a:prstGeom prst="ellipse">
            <a:avLst/>
          </a:prstGeom>
          <a:solidFill>
            <a:srgbClr val="0E9F6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548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344168" y="566928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Request a meal voucher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344168" y="1170432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 3 of 5  ·  Media Clients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66928" y="1920240"/>
            <a:ext cx="384048" cy="384048"/>
          </a:xfrm>
          <a:prstGeom prst="ellipse">
            <a:avLst/>
          </a:prstGeom>
          <a:solidFill>
            <a:srgbClr val="0E9F6E"/>
          </a:solidFill>
          <a:ln/>
        </p:spPr>
      </p:sp>
      <p:sp>
        <p:nvSpPr>
          <p:cNvPr id="7" name="Text 5"/>
          <p:cNvSpPr/>
          <p:nvPr/>
        </p:nvSpPr>
        <p:spPr>
          <a:xfrm>
            <a:off x="566928" y="1920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115568" y="1883664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0F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Enter your email
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C6A7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First time only: add your accreditation number — linked for next time.</a:t>
            </a:r>
            <a:endParaRPr lang="en-US" sz="1450" dirty="0"/>
          </a:p>
        </p:txBody>
      </p:sp>
      <p:sp>
        <p:nvSpPr>
          <p:cNvPr id="9" name="Shape 7"/>
          <p:cNvSpPr/>
          <p:nvPr/>
        </p:nvSpPr>
        <p:spPr>
          <a:xfrm>
            <a:off x="566928" y="2926080"/>
            <a:ext cx="384048" cy="384048"/>
          </a:xfrm>
          <a:prstGeom prst="ellipse">
            <a:avLst/>
          </a:prstGeom>
          <a:solidFill>
            <a:srgbClr val="0E9F6E"/>
          </a:solidFill>
          <a:ln/>
        </p:spPr>
      </p:sp>
      <p:sp>
        <p:nvSpPr>
          <p:cNvPr id="10" name="Text 8"/>
          <p:cNvSpPr/>
          <p:nvPr/>
        </p:nvSpPr>
        <p:spPr>
          <a:xfrm>
            <a:off x="566928" y="29260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115568" y="2889504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0F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Pick location &amp; meal
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C6A7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Choose the venue, then Lunch / Dinner (or the stadium meal).</a:t>
            </a:r>
            <a:endParaRPr lang="en-US" sz="1450" dirty="0"/>
          </a:p>
        </p:txBody>
      </p:sp>
      <p:sp>
        <p:nvSpPr>
          <p:cNvPr id="12" name="Shape 10"/>
          <p:cNvSpPr/>
          <p:nvPr/>
        </p:nvSpPr>
        <p:spPr>
          <a:xfrm>
            <a:off x="566928" y="3931920"/>
            <a:ext cx="384048" cy="384048"/>
          </a:xfrm>
          <a:prstGeom prst="ellipse">
            <a:avLst/>
          </a:prstGeom>
          <a:solidFill>
            <a:srgbClr val="0E9F6E"/>
          </a:solidFill>
          <a:ln/>
        </p:spPr>
      </p:sp>
      <p:sp>
        <p:nvSpPr>
          <p:cNvPr id="13" name="Text 11"/>
          <p:cNvSpPr/>
          <p:nvPr/>
        </p:nvSpPr>
        <p:spPr>
          <a:xfrm>
            <a:off x="566928" y="393192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115568" y="3895344"/>
            <a:ext cx="5486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1450" b="1" dirty="0">
                <a:solidFill>
                  <a:srgbClr val="0F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Tap “Generate Voucher”
</a:t>
            </a:r>
            <a:endParaRPr lang="en-US" sz="145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1250" dirty="0">
                <a:solidFill>
                  <a:srgbClr val="5C6A7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Get a QR ticket; the badge flips to “Redeemed” when scanned.</a:t>
            </a:r>
            <a:endParaRPr lang="en-US" sz="1450" dirty="0"/>
          </a:p>
        </p:txBody>
      </p:sp>
      <p:sp>
        <p:nvSpPr>
          <p:cNvPr id="15" name="Shape 13"/>
          <p:cNvSpPr/>
          <p:nvPr/>
        </p:nvSpPr>
        <p:spPr>
          <a:xfrm>
            <a:off x="566928" y="4983480"/>
            <a:ext cx="5943600" cy="457200"/>
          </a:xfrm>
          <a:prstGeom prst="roundRect">
            <a:avLst>
              <a:gd name="adj" fmla="val 50000"/>
            </a:avLst>
          </a:prstGeom>
          <a:solidFill>
            <a:srgbClr val="E2F6EE"/>
          </a:solidFill>
          <a:ln/>
        </p:spPr>
      </p:sp>
      <p:sp>
        <p:nvSpPr>
          <p:cNvPr id="16" name="Text 14"/>
          <p:cNvSpPr/>
          <p:nvPr/>
        </p:nvSpPr>
        <p:spPr>
          <a:xfrm>
            <a:off x="566928" y="4983480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0E9F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Returning? Just your email — no need to re-enter accreditation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8686800" y="1463040"/>
            <a:ext cx="2286000" cy="4297680"/>
          </a:xfrm>
          <a:prstGeom prst="roundRect">
            <a:avLst>
              <a:gd name="adj" fmla="val 8800"/>
            </a:avLst>
          </a:prstGeom>
          <a:solidFill>
            <a:srgbClr val="0B1A33"/>
          </a:solidFill>
          <a:ln/>
          <a:effectLst>
            <a:outerShdw sx="100000" sy="100000" kx="0" ky="0" algn="bl" rotWithShape="0" blurRad="114300" dist="38100" dir="5400000">
              <a:srgbClr val="0F1A2E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778240" y="1554480"/>
            <a:ext cx="2103120" cy="411480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/>
        </p:spPr>
      </p:sp>
      <p:sp>
        <p:nvSpPr>
          <p:cNvPr id="19" name="Shape 17"/>
          <p:cNvSpPr/>
          <p:nvPr/>
        </p:nvSpPr>
        <p:spPr>
          <a:xfrm>
            <a:off x="8887968" y="1691640"/>
            <a:ext cx="1883664" cy="777240"/>
          </a:xfrm>
          <a:prstGeom prst="roundRect">
            <a:avLst>
              <a:gd name="adj" fmla="val 11765"/>
            </a:avLst>
          </a:prstGeom>
          <a:solidFill>
            <a:srgbClr val="12274A"/>
          </a:solidFill>
          <a:ln/>
        </p:spPr>
      </p:sp>
      <p:sp>
        <p:nvSpPr>
          <p:cNvPr id="20" name="Text 18"/>
          <p:cNvSpPr/>
          <p:nvPr/>
        </p:nvSpPr>
        <p:spPr>
          <a:xfrm>
            <a:off x="9034272" y="178308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MMC · LUNCH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9921240" y="1847088"/>
            <a:ext cx="731520" cy="274320"/>
          </a:xfrm>
          <a:prstGeom prst="roundRect">
            <a:avLst>
              <a:gd name="adj" fmla="val 50000"/>
            </a:avLst>
          </a:prstGeom>
          <a:solidFill>
            <a:srgbClr val="1C3A6B"/>
          </a:solidFill>
          <a:ln/>
        </p:spPr>
      </p:sp>
      <p:sp>
        <p:nvSpPr>
          <p:cNvPr id="22" name="Text 20"/>
          <p:cNvSpPr/>
          <p:nvPr/>
        </p:nvSpPr>
        <p:spPr>
          <a:xfrm>
            <a:off x="9921240" y="1847088"/>
            <a:ext cx="731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PENDING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9034272" y="205740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Voucher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9189720" y="2651760"/>
            <a:ext cx="128016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CE2E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343339" y="2805379"/>
            <a:ext cx="272418" cy="272418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26" name="Shape 24"/>
          <p:cNvSpPr/>
          <p:nvPr/>
        </p:nvSpPr>
        <p:spPr>
          <a:xfrm>
            <a:off x="9403271" y="2865311"/>
            <a:ext cx="152554" cy="15255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7" name="Shape 25"/>
          <p:cNvSpPr/>
          <p:nvPr/>
        </p:nvSpPr>
        <p:spPr>
          <a:xfrm>
            <a:off x="9441410" y="2903450"/>
            <a:ext cx="76277" cy="76277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28" name="Shape 26"/>
          <p:cNvSpPr/>
          <p:nvPr/>
        </p:nvSpPr>
        <p:spPr>
          <a:xfrm>
            <a:off x="10043843" y="2805379"/>
            <a:ext cx="272418" cy="272418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29" name="Shape 27"/>
          <p:cNvSpPr/>
          <p:nvPr/>
        </p:nvSpPr>
        <p:spPr>
          <a:xfrm>
            <a:off x="10103775" y="2865311"/>
            <a:ext cx="152554" cy="15255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0" name="Shape 28"/>
          <p:cNvSpPr/>
          <p:nvPr/>
        </p:nvSpPr>
        <p:spPr>
          <a:xfrm>
            <a:off x="10141913" y="2903450"/>
            <a:ext cx="76277" cy="76277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31" name="Shape 29"/>
          <p:cNvSpPr/>
          <p:nvPr/>
        </p:nvSpPr>
        <p:spPr>
          <a:xfrm>
            <a:off x="9343339" y="3505883"/>
            <a:ext cx="272418" cy="272418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32" name="Shape 30"/>
          <p:cNvSpPr/>
          <p:nvPr/>
        </p:nvSpPr>
        <p:spPr>
          <a:xfrm>
            <a:off x="9403271" y="3565815"/>
            <a:ext cx="152554" cy="15255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3" name="Shape 31"/>
          <p:cNvSpPr/>
          <p:nvPr/>
        </p:nvSpPr>
        <p:spPr>
          <a:xfrm>
            <a:off x="9441410" y="3603953"/>
            <a:ext cx="76277" cy="76277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34" name="Shape 32"/>
          <p:cNvSpPr/>
          <p:nvPr/>
        </p:nvSpPr>
        <p:spPr>
          <a:xfrm>
            <a:off x="9786559" y="2816189"/>
            <a:ext cx="86482" cy="86482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35" name="Shape 33"/>
          <p:cNvSpPr/>
          <p:nvPr/>
        </p:nvSpPr>
        <p:spPr>
          <a:xfrm>
            <a:off x="9678457" y="2924292"/>
            <a:ext cx="86482" cy="86482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36" name="Shape 34"/>
          <p:cNvSpPr/>
          <p:nvPr/>
        </p:nvSpPr>
        <p:spPr>
          <a:xfrm>
            <a:off x="9786559" y="2924292"/>
            <a:ext cx="86482" cy="86482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37" name="Shape 35"/>
          <p:cNvSpPr/>
          <p:nvPr/>
        </p:nvSpPr>
        <p:spPr>
          <a:xfrm>
            <a:off x="9786559" y="3032394"/>
            <a:ext cx="86482" cy="86482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38" name="Shape 36"/>
          <p:cNvSpPr/>
          <p:nvPr/>
        </p:nvSpPr>
        <p:spPr>
          <a:xfrm>
            <a:off x="9462252" y="3140497"/>
            <a:ext cx="86482" cy="86482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39" name="Shape 37"/>
          <p:cNvSpPr/>
          <p:nvPr/>
        </p:nvSpPr>
        <p:spPr>
          <a:xfrm>
            <a:off x="9786559" y="3140497"/>
            <a:ext cx="86482" cy="86482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40" name="Shape 38"/>
          <p:cNvSpPr/>
          <p:nvPr/>
        </p:nvSpPr>
        <p:spPr>
          <a:xfrm>
            <a:off x="10110866" y="3140497"/>
            <a:ext cx="86482" cy="86482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41" name="Shape 39"/>
          <p:cNvSpPr/>
          <p:nvPr/>
        </p:nvSpPr>
        <p:spPr>
          <a:xfrm>
            <a:off x="9462252" y="3248599"/>
            <a:ext cx="86482" cy="86482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42" name="Shape 40"/>
          <p:cNvSpPr/>
          <p:nvPr/>
        </p:nvSpPr>
        <p:spPr>
          <a:xfrm>
            <a:off x="9570354" y="3248599"/>
            <a:ext cx="86482" cy="86482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43" name="Shape 41"/>
          <p:cNvSpPr/>
          <p:nvPr/>
        </p:nvSpPr>
        <p:spPr>
          <a:xfrm>
            <a:off x="9894661" y="3248599"/>
            <a:ext cx="86482" cy="86482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44" name="Shape 42"/>
          <p:cNvSpPr/>
          <p:nvPr/>
        </p:nvSpPr>
        <p:spPr>
          <a:xfrm>
            <a:off x="10002764" y="3248599"/>
            <a:ext cx="86482" cy="86482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45" name="Shape 43"/>
          <p:cNvSpPr/>
          <p:nvPr/>
        </p:nvSpPr>
        <p:spPr>
          <a:xfrm>
            <a:off x="10110866" y="3248599"/>
            <a:ext cx="86482" cy="86482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46" name="Shape 44"/>
          <p:cNvSpPr/>
          <p:nvPr/>
        </p:nvSpPr>
        <p:spPr>
          <a:xfrm>
            <a:off x="9354149" y="3356701"/>
            <a:ext cx="86482" cy="86482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47" name="Shape 45"/>
          <p:cNvSpPr/>
          <p:nvPr/>
        </p:nvSpPr>
        <p:spPr>
          <a:xfrm>
            <a:off x="9462252" y="3356701"/>
            <a:ext cx="86482" cy="86482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48" name="Shape 46"/>
          <p:cNvSpPr/>
          <p:nvPr/>
        </p:nvSpPr>
        <p:spPr>
          <a:xfrm>
            <a:off x="9570354" y="3356701"/>
            <a:ext cx="86482" cy="86482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49" name="Shape 47"/>
          <p:cNvSpPr/>
          <p:nvPr/>
        </p:nvSpPr>
        <p:spPr>
          <a:xfrm>
            <a:off x="9678457" y="3356701"/>
            <a:ext cx="86482" cy="86482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50" name="Shape 48"/>
          <p:cNvSpPr/>
          <p:nvPr/>
        </p:nvSpPr>
        <p:spPr>
          <a:xfrm>
            <a:off x="9786559" y="3356701"/>
            <a:ext cx="86482" cy="86482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51" name="Shape 49"/>
          <p:cNvSpPr/>
          <p:nvPr/>
        </p:nvSpPr>
        <p:spPr>
          <a:xfrm>
            <a:off x="10110866" y="3356701"/>
            <a:ext cx="86482" cy="86482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52" name="Shape 50"/>
          <p:cNvSpPr/>
          <p:nvPr/>
        </p:nvSpPr>
        <p:spPr>
          <a:xfrm>
            <a:off x="10218969" y="3356701"/>
            <a:ext cx="86482" cy="86482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53" name="Shape 51"/>
          <p:cNvSpPr/>
          <p:nvPr/>
        </p:nvSpPr>
        <p:spPr>
          <a:xfrm>
            <a:off x="9786559" y="3464804"/>
            <a:ext cx="86482" cy="86482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54" name="Shape 52"/>
          <p:cNvSpPr/>
          <p:nvPr/>
        </p:nvSpPr>
        <p:spPr>
          <a:xfrm>
            <a:off x="9786559" y="3572906"/>
            <a:ext cx="86482" cy="86482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55" name="Shape 53"/>
          <p:cNvSpPr/>
          <p:nvPr/>
        </p:nvSpPr>
        <p:spPr>
          <a:xfrm>
            <a:off x="9894661" y="3572906"/>
            <a:ext cx="86482" cy="86482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56" name="Shape 54"/>
          <p:cNvSpPr/>
          <p:nvPr/>
        </p:nvSpPr>
        <p:spPr>
          <a:xfrm>
            <a:off x="9894661" y="3681009"/>
            <a:ext cx="86482" cy="86482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57" name="Shape 55"/>
          <p:cNvSpPr/>
          <p:nvPr/>
        </p:nvSpPr>
        <p:spPr>
          <a:xfrm>
            <a:off x="10110866" y="3681009"/>
            <a:ext cx="86482" cy="86482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58" name="Shape 56"/>
          <p:cNvSpPr/>
          <p:nvPr/>
        </p:nvSpPr>
        <p:spPr>
          <a:xfrm>
            <a:off x="10218969" y="3681009"/>
            <a:ext cx="86482" cy="86482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59" name="Text 57"/>
          <p:cNvSpPr/>
          <p:nvPr/>
        </p:nvSpPr>
        <p:spPr>
          <a:xfrm>
            <a:off x="8961120" y="4069080"/>
            <a:ext cx="1737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F1A2E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MV-3LWU13</a:t>
            </a:r>
            <a:endParaRPr lang="en-US" sz="900" dirty="0"/>
          </a:p>
        </p:txBody>
      </p:sp>
      <p:sp>
        <p:nvSpPr>
          <p:cNvPr id="60" name="Shape 58"/>
          <p:cNvSpPr/>
          <p:nvPr/>
        </p:nvSpPr>
        <p:spPr>
          <a:xfrm>
            <a:off x="9098280" y="4434840"/>
            <a:ext cx="1463040" cy="182880"/>
          </a:xfrm>
          <a:prstGeom prst="roundRect">
            <a:avLst>
              <a:gd name="adj" fmla="val 50000"/>
            </a:avLst>
          </a:prstGeom>
          <a:solidFill>
            <a:srgbClr val="F5F8FC"/>
          </a:solidFill>
          <a:ln/>
        </p:spPr>
      </p:sp>
      <p:sp>
        <p:nvSpPr>
          <p:cNvPr id="61" name="Shape 59"/>
          <p:cNvSpPr/>
          <p:nvPr/>
        </p:nvSpPr>
        <p:spPr>
          <a:xfrm>
            <a:off x="9098280" y="4727448"/>
            <a:ext cx="1463040" cy="182880"/>
          </a:xfrm>
          <a:prstGeom prst="roundRect">
            <a:avLst>
              <a:gd name="adj" fmla="val 50000"/>
            </a:avLst>
          </a:prstGeom>
          <a:solidFill>
            <a:srgbClr val="F5F8FC"/>
          </a:solidFill>
          <a:ln/>
        </p:spPr>
      </p:sp>
      <p:sp>
        <p:nvSpPr>
          <p:cNvPr id="62" name="Shape 60"/>
          <p:cNvSpPr/>
          <p:nvPr/>
        </p:nvSpPr>
        <p:spPr>
          <a:xfrm>
            <a:off x="8833104" y="5212080"/>
            <a:ext cx="1993392" cy="384048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63" name="Shape 61"/>
          <p:cNvSpPr/>
          <p:nvPr/>
        </p:nvSpPr>
        <p:spPr>
          <a:xfrm>
            <a:off x="9036558" y="5276088"/>
            <a:ext cx="91440" cy="91440"/>
          </a:xfrm>
          <a:prstGeom prst="ellipse">
            <a:avLst/>
          </a:prstGeom>
          <a:solidFill>
            <a:srgbClr val="2F6BFF"/>
          </a:solidFill>
          <a:ln/>
        </p:spPr>
      </p:sp>
      <p:sp>
        <p:nvSpPr>
          <p:cNvPr id="64" name="Text 62"/>
          <p:cNvSpPr/>
          <p:nvPr/>
        </p:nvSpPr>
        <p:spPr>
          <a:xfrm>
            <a:off x="8833104" y="5376672"/>
            <a:ext cx="4983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F6B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Voucher</a:t>
            </a:r>
            <a:endParaRPr lang="en-US" sz="650" dirty="0"/>
          </a:p>
        </p:txBody>
      </p:sp>
      <p:sp>
        <p:nvSpPr>
          <p:cNvPr id="65" name="Shape 63"/>
          <p:cNvSpPr/>
          <p:nvPr/>
        </p:nvSpPr>
        <p:spPr>
          <a:xfrm>
            <a:off x="9534906" y="5276088"/>
            <a:ext cx="91440" cy="91440"/>
          </a:xfrm>
          <a:prstGeom prst="ellipse">
            <a:avLst/>
          </a:prstGeom>
          <a:solidFill>
            <a:srgbClr val="8A96A8"/>
          </a:solidFill>
          <a:ln/>
        </p:spPr>
      </p:sp>
      <p:sp>
        <p:nvSpPr>
          <p:cNvPr id="66" name="Text 64"/>
          <p:cNvSpPr/>
          <p:nvPr/>
        </p:nvSpPr>
        <p:spPr>
          <a:xfrm>
            <a:off x="9331452" y="5376672"/>
            <a:ext cx="4983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C6A7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Press</a:t>
            </a:r>
            <a:endParaRPr lang="en-US" sz="650" dirty="0"/>
          </a:p>
        </p:txBody>
      </p:sp>
      <p:sp>
        <p:nvSpPr>
          <p:cNvPr id="67" name="Shape 65"/>
          <p:cNvSpPr/>
          <p:nvPr/>
        </p:nvSpPr>
        <p:spPr>
          <a:xfrm>
            <a:off x="10033254" y="5276088"/>
            <a:ext cx="91440" cy="91440"/>
          </a:xfrm>
          <a:prstGeom prst="ellipse">
            <a:avLst/>
          </a:prstGeom>
          <a:solidFill>
            <a:srgbClr val="8A96A8"/>
          </a:solidFill>
          <a:ln/>
        </p:spPr>
      </p:sp>
      <p:sp>
        <p:nvSpPr>
          <p:cNvPr id="68" name="Text 66"/>
          <p:cNvSpPr/>
          <p:nvPr/>
        </p:nvSpPr>
        <p:spPr>
          <a:xfrm>
            <a:off x="9829800" y="5376672"/>
            <a:ext cx="4983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C6A7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News</a:t>
            </a:r>
            <a:endParaRPr lang="en-US" sz="650" dirty="0"/>
          </a:p>
        </p:txBody>
      </p:sp>
      <p:sp>
        <p:nvSpPr>
          <p:cNvPr id="69" name="Shape 67"/>
          <p:cNvSpPr/>
          <p:nvPr/>
        </p:nvSpPr>
        <p:spPr>
          <a:xfrm>
            <a:off x="10531602" y="5276088"/>
            <a:ext cx="91440" cy="91440"/>
          </a:xfrm>
          <a:prstGeom prst="ellipse">
            <a:avLst/>
          </a:prstGeom>
          <a:solidFill>
            <a:srgbClr val="8A96A8"/>
          </a:solidFill>
          <a:ln/>
        </p:spPr>
      </p:sp>
      <p:sp>
        <p:nvSpPr>
          <p:cNvPr id="70" name="Text 68"/>
          <p:cNvSpPr/>
          <p:nvPr/>
        </p:nvSpPr>
        <p:spPr>
          <a:xfrm>
            <a:off x="10328148" y="5376672"/>
            <a:ext cx="4983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C6A7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Transport</a:t>
            </a:r>
            <a:endParaRPr lang="en-US" sz="650" dirty="0"/>
          </a:p>
        </p:txBody>
      </p:sp>
      <p:sp>
        <p:nvSpPr>
          <p:cNvPr id="71" name="Text 69"/>
          <p:cNvSpPr/>
          <p:nvPr/>
        </p:nvSpPr>
        <p:spPr>
          <a:xfrm>
            <a:off x="566928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AFC Asian Cup 2027  ·  Media Hub</a:t>
            </a:r>
            <a:endParaRPr lang="en-US" sz="900" dirty="0"/>
          </a:p>
        </p:txBody>
      </p:sp>
      <p:sp>
        <p:nvSpPr>
          <p:cNvPr id="72" name="Text 70"/>
          <p:cNvSpPr/>
          <p:nvPr/>
        </p:nvSpPr>
        <p:spPr>
          <a:xfrm>
            <a:off x="10710367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48640"/>
            <a:ext cx="548640" cy="548640"/>
          </a:xfrm>
          <a:prstGeom prst="ellipse">
            <a:avLst/>
          </a:prstGeom>
          <a:solidFill>
            <a:srgbClr val="0E9F6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548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344168" y="566928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vouchers stay all day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344168" y="11704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 4 of 5  ·  Media Clients  ·  retrieve them anytime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566928" y="1920240"/>
            <a:ext cx="585216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marL="203200" indent="-2032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0F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Saved automatically.</a:t>
            </a:r>
            <a:endParaRPr lang="en-US" sz="1300" dirty="0"/>
          </a:p>
          <a:p>
            <a:pPr algn="l" marL="203200" indent="-2032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F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 voucher you generate today appears under “Your vouchers — today”.</a:t>
            </a:r>
            <a:endParaRPr lang="en-US" sz="1300" dirty="0"/>
          </a:p>
          <a:p>
            <a:pPr algn="l" marL="203200" indent="-2032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0F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Reopen any time.</a:t>
            </a:r>
            <a:endParaRPr lang="en-US" sz="1300" dirty="0"/>
          </a:p>
          <a:p>
            <a:pPr algn="l" marL="203200" indent="-2032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F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Tap a voucher to show its QR again at the counter — until local midnight.</a:t>
            </a:r>
            <a:endParaRPr lang="en-US" sz="1300" dirty="0"/>
          </a:p>
          <a:p>
            <a:pPr algn="l" marL="203200" indent="-2032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0F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 any device, even offline.</a:t>
            </a:r>
            <a:endParaRPr lang="en-US" sz="1300" dirty="0"/>
          </a:p>
          <a:p>
            <a:pPr algn="l" marL="203200" indent="-2032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0F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Just enter your email on another phone; cached on-device for poor signal.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8686800" y="1463040"/>
            <a:ext cx="2286000" cy="4297680"/>
          </a:xfrm>
          <a:prstGeom prst="roundRect">
            <a:avLst>
              <a:gd name="adj" fmla="val 8800"/>
            </a:avLst>
          </a:prstGeom>
          <a:solidFill>
            <a:srgbClr val="0B1A33"/>
          </a:solidFill>
          <a:ln/>
          <a:effectLst>
            <a:outerShdw sx="100000" sy="100000" kx="0" ky="0" algn="bl" rotWithShape="0" blurRad="114300" dist="38100" dir="5400000">
              <a:srgbClr val="0F1A2E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778240" y="1554480"/>
            <a:ext cx="2103120" cy="4114800"/>
          </a:xfrm>
          <a:prstGeom prst="roundRect">
            <a:avLst>
              <a:gd name="adj" fmla="val 6957"/>
            </a:avLst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8833104" y="1609344"/>
            <a:ext cx="1993392" cy="457200"/>
          </a:xfrm>
          <a:prstGeom prst="roundRect">
            <a:avLst>
              <a:gd name="adj" fmla="val 20000"/>
            </a:avLst>
          </a:prstGeom>
          <a:solidFill>
            <a:srgbClr val="12274A"/>
          </a:solidFill>
          <a:ln/>
        </p:spPr>
      </p:sp>
      <p:sp>
        <p:nvSpPr>
          <p:cNvPr id="10" name="Text 8"/>
          <p:cNvSpPr/>
          <p:nvPr/>
        </p:nvSpPr>
        <p:spPr>
          <a:xfrm>
            <a:off x="8961120" y="1609344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Your vouchers — today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24544" y="2240280"/>
            <a:ext cx="1810512" cy="603504"/>
          </a:xfrm>
          <a:prstGeom prst="roundRect">
            <a:avLst>
              <a:gd name="adj" fmla="val 12121"/>
            </a:avLst>
          </a:prstGeom>
          <a:solidFill>
            <a:srgbClr val="F5F8FC"/>
          </a:solidFill>
          <a:ln w="12700">
            <a:solidFill>
              <a:srgbClr val="DCE2EC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9015984" y="2331720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DCE2E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066459" y="2382195"/>
            <a:ext cx="89509" cy="89509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14" name="Shape 12"/>
          <p:cNvSpPr/>
          <p:nvPr/>
        </p:nvSpPr>
        <p:spPr>
          <a:xfrm>
            <a:off x="9086151" y="2401887"/>
            <a:ext cx="50125" cy="501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Shape 13"/>
          <p:cNvSpPr/>
          <p:nvPr/>
        </p:nvSpPr>
        <p:spPr>
          <a:xfrm>
            <a:off x="9098682" y="2414418"/>
            <a:ext cx="25062" cy="25062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16" name="Shape 14"/>
          <p:cNvSpPr/>
          <p:nvPr/>
        </p:nvSpPr>
        <p:spPr>
          <a:xfrm>
            <a:off x="9296624" y="2382195"/>
            <a:ext cx="89509" cy="89509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17" name="Shape 15"/>
          <p:cNvSpPr/>
          <p:nvPr/>
        </p:nvSpPr>
        <p:spPr>
          <a:xfrm>
            <a:off x="9316316" y="2401887"/>
            <a:ext cx="50125" cy="501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8" name="Shape 16"/>
          <p:cNvSpPr/>
          <p:nvPr/>
        </p:nvSpPr>
        <p:spPr>
          <a:xfrm>
            <a:off x="9328847" y="2414418"/>
            <a:ext cx="25062" cy="25062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19" name="Shape 17"/>
          <p:cNvSpPr/>
          <p:nvPr/>
        </p:nvSpPr>
        <p:spPr>
          <a:xfrm>
            <a:off x="9066459" y="2612360"/>
            <a:ext cx="89509" cy="89509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20" name="Shape 18"/>
          <p:cNvSpPr/>
          <p:nvPr/>
        </p:nvSpPr>
        <p:spPr>
          <a:xfrm>
            <a:off x="9086151" y="2632052"/>
            <a:ext cx="50125" cy="501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9098682" y="2644583"/>
            <a:ext cx="25062" cy="25062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22" name="Shape 20"/>
          <p:cNvSpPr/>
          <p:nvPr/>
        </p:nvSpPr>
        <p:spPr>
          <a:xfrm>
            <a:off x="9212088" y="2385747"/>
            <a:ext cx="28415" cy="28415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23" name="Shape 21"/>
          <p:cNvSpPr/>
          <p:nvPr/>
        </p:nvSpPr>
        <p:spPr>
          <a:xfrm>
            <a:off x="9176569" y="2421266"/>
            <a:ext cx="28415" cy="28415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24" name="Shape 22"/>
          <p:cNvSpPr/>
          <p:nvPr/>
        </p:nvSpPr>
        <p:spPr>
          <a:xfrm>
            <a:off x="9212088" y="2421266"/>
            <a:ext cx="28415" cy="28415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25" name="Shape 23"/>
          <p:cNvSpPr/>
          <p:nvPr/>
        </p:nvSpPr>
        <p:spPr>
          <a:xfrm>
            <a:off x="9212088" y="2456786"/>
            <a:ext cx="28415" cy="28415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26" name="Shape 24"/>
          <p:cNvSpPr/>
          <p:nvPr/>
        </p:nvSpPr>
        <p:spPr>
          <a:xfrm>
            <a:off x="9105530" y="2492305"/>
            <a:ext cx="28415" cy="28415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27" name="Shape 25"/>
          <p:cNvSpPr/>
          <p:nvPr/>
        </p:nvSpPr>
        <p:spPr>
          <a:xfrm>
            <a:off x="9212088" y="2492305"/>
            <a:ext cx="28415" cy="28415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28" name="Shape 26"/>
          <p:cNvSpPr/>
          <p:nvPr/>
        </p:nvSpPr>
        <p:spPr>
          <a:xfrm>
            <a:off x="9318646" y="2492305"/>
            <a:ext cx="28415" cy="28415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29" name="Shape 27"/>
          <p:cNvSpPr/>
          <p:nvPr/>
        </p:nvSpPr>
        <p:spPr>
          <a:xfrm>
            <a:off x="9105530" y="2527824"/>
            <a:ext cx="28415" cy="28415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30" name="Shape 28"/>
          <p:cNvSpPr/>
          <p:nvPr/>
        </p:nvSpPr>
        <p:spPr>
          <a:xfrm>
            <a:off x="9141050" y="2527824"/>
            <a:ext cx="28415" cy="28415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31" name="Shape 29"/>
          <p:cNvSpPr/>
          <p:nvPr/>
        </p:nvSpPr>
        <p:spPr>
          <a:xfrm>
            <a:off x="9247608" y="2527824"/>
            <a:ext cx="28415" cy="28415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32" name="Shape 30"/>
          <p:cNvSpPr/>
          <p:nvPr/>
        </p:nvSpPr>
        <p:spPr>
          <a:xfrm>
            <a:off x="9283127" y="2527824"/>
            <a:ext cx="28415" cy="28415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33" name="Shape 31"/>
          <p:cNvSpPr/>
          <p:nvPr/>
        </p:nvSpPr>
        <p:spPr>
          <a:xfrm>
            <a:off x="9318646" y="2527824"/>
            <a:ext cx="28415" cy="28415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34" name="Shape 32"/>
          <p:cNvSpPr/>
          <p:nvPr/>
        </p:nvSpPr>
        <p:spPr>
          <a:xfrm>
            <a:off x="9070011" y="2563344"/>
            <a:ext cx="28415" cy="28415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35" name="Shape 33"/>
          <p:cNvSpPr/>
          <p:nvPr/>
        </p:nvSpPr>
        <p:spPr>
          <a:xfrm>
            <a:off x="9105530" y="2563344"/>
            <a:ext cx="28415" cy="28415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36" name="Shape 34"/>
          <p:cNvSpPr/>
          <p:nvPr/>
        </p:nvSpPr>
        <p:spPr>
          <a:xfrm>
            <a:off x="9141050" y="2563344"/>
            <a:ext cx="28415" cy="28415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37" name="Shape 35"/>
          <p:cNvSpPr/>
          <p:nvPr/>
        </p:nvSpPr>
        <p:spPr>
          <a:xfrm>
            <a:off x="9176569" y="2563344"/>
            <a:ext cx="28415" cy="28415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38" name="Shape 36"/>
          <p:cNvSpPr/>
          <p:nvPr/>
        </p:nvSpPr>
        <p:spPr>
          <a:xfrm>
            <a:off x="9212088" y="2563344"/>
            <a:ext cx="28415" cy="28415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39" name="Shape 37"/>
          <p:cNvSpPr/>
          <p:nvPr/>
        </p:nvSpPr>
        <p:spPr>
          <a:xfrm>
            <a:off x="9318646" y="2563344"/>
            <a:ext cx="28415" cy="28415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40" name="Shape 38"/>
          <p:cNvSpPr/>
          <p:nvPr/>
        </p:nvSpPr>
        <p:spPr>
          <a:xfrm>
            <a:off x="9354166" y="2563344"/>
            <a:ext cx="28415" cy="28415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41" name="Shape 39"/>
          <p:cNvSpPr/>
          <p:nvPr/>
        </p:nvSpPr>
        <p:spPr>
          <a:xfrm>
            <a:off x="9212088" y="2598863"/>
            <a:ext cx="28415" cy="28415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42" name="Shape 40"/>
          <p:cNvSpPr/>
          <p:nvPr/>
        </p:nvSpPr>
        <p:spPr>
          <a:xfrm>
            <a:off x="9212088" y="2634382"/>
            <a:ext cx="28415" cy="28415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43" name="Shape 41"/>
          <p:cNvSpPr/>
          <p:nvPr/>
        </p:nvSpPr>
        <p:spPr>
          <a:xfrm>
            <a:off x="9247608" y="2634382"/>
            <a:ext cx="28415" cy="28415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44" name="Shape 42"/>
          <p:cNvSpPr/>
          <p:nvPr/>
        </p:nvSpPr>
        <p:spPr>
          <a:xfrm>
            <a:off x="9247608" y="2669902"/>
            <a:ext cx="28415" cy="28415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45" name="Shape 43"/>
          <p:cNvSpPr/>
          <p:nvPr/>
        </p:nvSpPr>
        <p:spPr>
          <a:xfrm>
            <a:off x="9318646" y="2669902"/>
            <a:ext cx="28415" cy="28415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46" name="Shape 44"/>
          <p:cNvSpPr/>
          <p:nvPr/>
        </p:nvSpPr>
        <p:spPr>
          <a:xfrm>
            <a:off x="9354166" y="2669902"/>
            <a:ext cx="28415" cy="28415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47" name="Text 45"/>
          <p:cNvSpPr/>
          <p:nvPr/>
        </p:nvSpPr>
        <p:spPr>
          <a:xfrm>
            <a:off x="9528048" y="2331720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Stadium Meal</a:t>
            </a:r>
            <a:endParaRPr lang="en-US" sz="850" dirty="0"/>
          </a:p>
        </p:txBody>
      </p:sp>
      <p:sp>
        <p:nvSpPr>
          <p:cNvPr id="48" name="Shape 46"/>
          <p:cNvSpPr/>
          <p:nvPr/>
        </p:nvSpPr>
        <p:spPr>
          <a:xfrm>
            <a:off x="9528048" y="2551176"/>
            <a:ext cx="822960" cy="20116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/>
        </p:spPr>
      </p:sp>
      <p:sp>
        <p:nvSpPr>
          <p:cNvPr id="49" name="Text 47"/>
          <p:cNvSpPr/>
          <p:nvPr/>
        </p:nvSpPr>
        <p:spPr>
          <a:xfrm>
            <a:off x="9528048" y="2551176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710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Pending</a:t>
            </a:r>
            <a:endParaRPr lang="en-US" sz="650" dirty="0"/>
          </a:p>
        </p:txBody>
      </p:sp>
      <p:sp>
        <p:nvSpPr>
          <p:cNvPr id="50" name="Shape 48"/>
          <p:cNvSpPr/>
          <p:nvPr/>
        </p:nvSpPr>
        <p:spPr>
          <a:xfrm>
            <a:off x="8924544" y="2953512"/>
            <a:ext cx="1810512" cy="603504"/>
          </a:xfrm>
          <a:prstGeom prst="roundRect">
            <a:avLst>
              <a:gd name="adj" fmla="val 12121"/>
            </a:avLst>
          </a:prstGeom>
          <a:solidFill>
            <a:srgbClr val="F5F8FC"/>
          </a:solidFill>
          <a:ln w="12700">
            <a:solidFill>
              <a:srgbClr val="DCE2E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9015984" y="3044952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DCE2EC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>
            <a:off x="9066459" y="3095427"/>
            <a:ext cx="89509" cy="89509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53" name="Shape 51"/>
          <p:cNvSpPr/>
          <p:nvPr/>
        </p:nvSpPr>
        <p:spPr>
          <a:xfrm>
            <a:off x="9086151" y="3115119"/>
            <a:ext cx="50125" cy="501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4" name="Shape 52"/>
          <p:cNvSpPr/>
          <p:nvPr/>
        </p:nvSpPr>
        <p:spPr>
          <a:xfrm>
            <a:off x="9098682" y="3127650"/>
            <a:ext cx="25062" cy="25062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55" name="Shape 53"/>
          <p:cNvSpPr/>
          <p:nvPr/>
        </p:nvSpPr>
        <p:spPr>
          <a:xfrm>
            <a:off x="9296624" y="3095427"/>
            <a:ext cx="89509" cy="89509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56" name="Shape 54"/>
          <p:cNvSpPr/>
          <p:nvPr/>
        </p:nvSpPr>
        <p:spPr>
          <a:xfrm>
            <a:off x="9316316" y="3115119"/>
            <a:ext cx="50125" cy="501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57" name="Shape 55"/>
          <p:cNvSpPr/>
          <p:nvPr/>
        </p:nvSpPr>
        <p:spPr>
          <a:xfrm>
            <a:off x="9328847" y="3127650"/>
            <a:ext cx="25062" cy="25062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58" name="Shape 56"/>
          <p:cNvSpPr/>
          <p:nvPr/>
        </p:nvSpPr>
        <p:spPr>
          <a:xfrm>
            <a:off x="9066459" y="3325592"/>
            <a:ext cx="89509" cy="89509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59" name="Shape 57"/>
          <p:cNvSpPr/>
          <p:nvPr/>
        </p:nvSpPr>
        <p:spPr>
          <a:xfrm>
            <a:off x="9086151" y="3345284"/>
            <a:ext cx="50125" cy="501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0" name="Shape 58"/>
          <p:cNvSpPr/>
          <p:nvPr/>
        </p:nvSpPr>
        <p:spPr>
          <a:xfrm>
            <a:off x="9098682" y="3357815"/>
            <a:ext cx="25062" cy="25062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61" name="Shape 59"/>
          <p:cNvSpPr/>
          <p:nvPr/>
        </p:nvSpPr>
        <p:spPr>
          <a:xfrm>
            <a:off x="9212088" y="3098979"/>
            <a:ext cx="28415" cy="28415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62" name="Shape 60"/>
          <p:cNvSpPr/>
          <p:nvPr/>
        </p:nvSpPr>
        <p:spPr>
          <a:xfrm>
            <a:off x="9176569" y="3134498"/>
            <a:ext cx="28415" cy="28415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63" name="Shape 61"/>
          <p:cNvSpPr/>
          <p:nvPr/>
        </p:nvSpPr>
        <p:spPr>
          <a:xfrm>
            <a:off x="9212088" y="3134498"/>
            <a:ext cx="28415" cy="28415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64" name="Shape 62"/>
          <p:cNvSpPr/>
          <p:nvPr/>
        </p:nvSpPr>
        <p:spPr>
          <a:xfrm>
            <a:off x="9212088" y="3170018"/>
            <a:ext cx="28415" cy="28415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65" name="Shape 63"/>
          <p:cNvSpPr/>
          <p:nvPr/>
        </p:nvSpPr>
        <p:spPr>
          <a:xfrm>
            <a:off x="9105530" y="3205537"/>
            <a:ext cx="28415" cy="28415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66" name="Shape 64"/>
          <p:cNvSpPr/>
          <p:nvPr/>
        </p:nvSpPr>
        <p:spPr>
          <a:xfrm>
            <a:off x="9212088" y="3205537"/>
            <a:ext cx="28415" cy="28415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67" name="Shape 65"/>
          <p:cNvSpPr/>
          <p:nvPr/>
        </p:nvSpPr>
        <p:spPr>
          <a:xfrm>
            <a:off x="9318646" y="3205537"/>
            <a:ext cx="28415" cy="28415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68" name="Shape 66"/>
          <p:cNvSpPr/>
          <p:nvPr/>
        </p:nvSpPr>
        <p:spPr>
          <a:xfrm>
            <a:off x="9105530" y="3241056"/>
            <a:ext cx="28415" cy="28415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69" name="Shape 67"/>
          <p:cNvSpPr/>
          <p:nvPr/>
        </p:nvSpPr>
        <p:spPr>
          <a:xfrm>
            <a:off x="9141050" y="3241056"/>
            <a:ext cx="28415" cy="28415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70" name="Shape 68"/>
          <p:cNvSpPr/>
          <p:nvPr/>
        </p:nvSpPr>
        <p:spPr>
          <a:xfrm>
            <a:off x="9247608" y="3241056"/>
            <a:ext cx="28415" cy="28415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71" name="Shape 69"/>
          <p:cNvSpPr/>
          <p:nvPr/>
        </p:nvSpPr>
        <p:spPr>
          <a:xfrm>
            <a:off x="9283127" y="3241056"/>
            <a:ext cx="28415" cy="28415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72" name="Shape 70"/>
          <p:cNvSpPr/>
          <p:nvPr/>
        </p:nvSpPr>
        <p:spPr>
          <a:xfrm>
            <a:off x="9318646" y="3241056"/>
            <a:ext cx="28415" cy="28415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73" name="Shape 71"/>
          <p:cNvSpPr/>
          <p:nvPr/>
        </p:nvSpPr>
        <p:spPr>
          <a:xfrm>
            <a:off x="9070011" y="3276576"/>
            <a:ext cx="28415" cy="28415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74" name="Shape 72"/>
          <p:cNvSpPr/>
          <p:nvPr/>
        </p:nvSpPr>
        <p:spPr>
          <a:xfrm>
            <a:off x="9105530" y="3276576"/>
            <a:ext cx="28415" cy="28415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75" name="Shape 73"/>
          <p:cNvSpPr/>
          <p:nvPr/>
        </p:nvSpPr>
        <p:spPr>
          <a:xfrm>
            <a:off x="9141050" y="3276576"/>
            <a:ext cx="28415" cy="28415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76" name="Shape 74"/>
          <p:cNvSpPr/>
          <p:nvPr/>
        </p:nvSpPr>
        <p:spPr>
          <a:xfrm>
            <a:off x="9176569" y="3276576"/>
            <a:ext cx="28415" cy="28415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77" name="Shape 75"/>
          <p:cNvSpPr/>
          <p:nvPr/>
        </p:nvSpPr>
        <p:spPr>
          <a:xfrm>
            <a:off x="9212088" y="3276576"/>
            <a:ext cx="28415" cy="28415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78" name="Shape 76"/>
          <p:cNvSpPr/>
          <p:nvPr/>
        </p:nvSpPr>
        <p:spPr>
          <a:xfrm>
            <a:off x="9318646" y="3276576"/>
            <a:ext cx="28415" cy="28415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79" name="Shape 77"/>
          <p:cNvSpPr/>
          <p:nvPr/>
        </p:nvSpPr>
        <p:spPr>
          <a:xfrm>
            <a:off x="9354166" y="3276576"/>
            <a:ext cx="28415" cy="28415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80" name="Shape 78"/>
          <p:cNvSpPr/>
          <p:nvPr/>
        </p:nvSpPr>
        <p:spPr>
          <a:xfrm>
            <a:off x="9212088" y="3312095"/>
            <a:ext cx="28415" cy="28415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81" name="Shape 79"/>
          <p:cNvSpPr/>
          <p:nvPr/>
        </p:nvSpPr>
        <p:spPr>
          <a:xfrm>
            <a:off x="9212088" y="3347614"/>
            <a:ext cx="28415" cy="28415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82" name="Shape 80"/>
          <p:cNvSpPr/>
          <p:nvPr/>
        </p:nvSpPr>
        <p:spPr>
          <a:xfrm>
            <a:off x="9247608" y="3347614"/>
            <a:ext cx="28415" cy="28415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83" name="Shape 81"/>
          <p:cNvSpPr/>
          <p:nvPr/>
        </p:nvSpPr>
        <p:spPr>
          <a:xfrm>
            <a:off x="9247608" y="3383134"/>
            <a:ext cx="28415" cy="28415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84" name="Shape 82"/>
          <p:cNvSpPr/>
          <p:nvPr/>
        </p:nvSpPr>
        <p:spPr>
          <a:xfrm>
            <a:off x="9318646" y="3383134"/>
            <a:ext cx="28415" cy="28415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85" name="Shape 83"/>
          <p:cNvSpPr/>
          <p:nvPr/>
        </p:nvSpPr>
        <p:spPr>
          <a:xfrm>
            <a:off x="9354166" y="3383134"/>
            <a:ext cx="28415" cy="28415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86" name="Text 84"/>
          <p:cNvSpPr/>
          <p:nvPr/>
        </p:nvSpPr>
        <p:spPr>
          <a:xfrm>
            <a:off x="9528048" y="3044952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Dinner · MMC</a:t>
            </a:r>
            <a:endParaRPr lang="en-US" sz="850" dirty="0"/>
          </a:p>
        </p:txBody>
      </p:sp>
      <p:sp>
        <p:nvSpPr>
          <p:cNvPr id="87" name="Shape 85"/>
          <p:cNvSpPr/>
          <p:nvPr/>
        </p:nvSpPr>
        <p:spPr>
          <a:xfrm>
            <a:off x="9528048" y="3264408"/>
            <a:ext cx="822960" cy="201168"/>
          </a:xfrm>
          <a:prstGeom prst="roundRect">
            <a:avLst>
              <a:gd name="adj" fmla="val 50000"/>
            </a:avLst>
          </a:prstGeom>
          <a:solidFill>
            <a:srgbClr val="FBEFD9"/>
          </a:solidFill>
          <a:ln/>
        </p:spPr>
      </p:sp>
      <p:sp>
        <p:nvSpPr>
          <p:cNvPr id="88" name="Text 86"/>
          <p:cNvSpPr/>
          <p:nvPr/>
        </p:nvSpPr>
        <p:spPr>
          <a:xfrm>
            <a:off x="9528048" y="3264408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B9710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Pending</a:t>
            </a:r>
            <a:endParaRPr lang="en-US" sz="650" dirty="0"/>
          </a:p>
        </p:txBody>
      </p:sp>
      <p:sp>
        <p:nvSpPr>
          <p:cNvPr id="89" name="Shape 87"/>
          <p:cNvSpPr/>
          <p:nvPr/>
        </p:nvSpPr>
        <p:spPr>
          <a:xfrm>
            <a:off x="8924544" y="3666744"/>
            <a:ext cx="1810512" cy="603504"/>
          </a:xfrm>
          <a:prstGeom prst="roundRect">
            <a:avLst>
              <a:gd name="adj" fmla="val 12121"/>
            </a:avLst>
          </a:prstGeom>
          <a:solidFill>
            <a:srgbClr val="F5F8FC"/>
          </a:solidFill>
          <a:ln w="12700">
            <a:solidFill>
              <a:srgbClr val="DCE2EC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9015984" y="3758184"/>
            <a:ext cx="420624" cy="420624"/>
          </a:xfrm>
          <a:prstGeom prst="roundRect">
            <a:avLst>
              <a:gd name="adj" fmla="val 17391"/>
            </a:avLst>
          </a:prstGeom>
          <a:solidFill>
            <a:srgbClr val="FFFFFF"/>
          </a:solidFill>
          <a:ln w="12700">
            <a:solidFill>
              <a:srgbClr val="DCE2EC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9066459" y="3808659"/>
            <a:ext cx="89509" cy="89509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92" name="Shape 90"/>
          <p:cNvSpPr/>
          <p:nvPr/>
        </p:nvSpPr>
        <p:spPr>
          <a:xfrm>
            <a:off x="9086151" y="3828351"/>
            <a:ext cx="50125" cy="501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3" name="Shape 91"/>
          <p:cNvSpPr/>
          <p:nvPr/>
        </p:nvSpPr>
        <p:spPr>
          <a:xfrm>
            <a:off x="9098682" y="3840882"/>
            <a:ext cx="25062" cy="25062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94" name="Shape 92"/>
          <p:cNvSpPr/>
          <p:nvPr/>
        </p:nvSpPr>
        <p:spPr>
          <a:xfrm>
            <a:off x="9296624" y="3808659"/>
            <a:ext cx="89509" cy="89509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95" name="Shape 93"/>
          <p:cNvSpPr/>
          <p:nvPr/>
        </p:nvSpPr>
        <p:spPr>
          <a:xfrm>
            <a:off x="9316316" y="3828351"/>
            <a:ext cx="50125" cy="501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6" name="Shape 94"/>
          <p:cNvSpPr/>
          <p:nvPr/>
        </p:nvSpPr>
        <p:spPr>
          <a:xfrm>
            <a:off x="9328847" y="3840882"/>
            <a:ext cx="25062" cy="25062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97" name="Shape 95"/>
          <p:cNvSpPr/>
          <p:nvPr/>
        </p:nvSpPr>
        <p:spPr>
          <a:xfrm>
            <a:off x="9066459" y="4038824"/>
            <a:ext cx="89509" cy="89509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98" name="Shape 96"/>
          <p:cNvSpPr/>
          <p:nvPr/>
        </p:nvSpPr>
        <p:spPr>
          <a:xfrm>
            <a:off x="9086151" y="4058516"/>
            <a:ext cx="50125" cy="50125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9" name="Shape 97"/>
          <p:cNvSpPr/>
          <p:nvPr/>
        </p:nvSpPr>
        <p:spPr>
          <a:xfrm>
            <a:off x="9098682" y="4071047"/>
            <a:ext cx="25062" cy="25062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100" name="Shape 98"/>
          <p:cNvSpPr/>
          <p:nvPr/>
        </p:nvSpPr>
        <p:spPr>
          <a:xfrm>
            <a:off x="9212088" y="3812211"/>
            <a:ext cx="28415" cy="28415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101" name="Shape 99"/>
          <p:cNvSpPr/>
          <p:nvPr/>
        </p:nvSpPr>
        <p:spPr>
          <a:xfrm>
            <a:off x="9176569" y="3847730"/>
            <a:ext cx="28415" cy="28415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102" name="Shape 100"/>
          <p:cNvSpPr/>
          <p:nvPr/>
        </p:nvSpPr>
        <p:spPr>
          <a:xfrm>
            <a:off x="9212088" y="3847730"/>
            <a:ext cx="28415" cy="28415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103" name="Shape 101"/>
          <p:cNvSpPr/>
          <p:nvPr/>
        </p:nvSpPr>
        <p:spPr>
          <a:xfrm>
            <a:off x="9212088" y="3883250"/>
            <a:ext cx="28415" cy="28415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104" name="Shape 102"/>
          <p:cNvSpPr/>
          <p:nvPr/>
        </p:nvSpPr>
        <p:spPr>
          <a:xfrm>
            <a:off x="9105530" y="3918769"/>
            <a:ext cx="28415" cy="28415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105" name="Shape 103"/>
          <p:cNvSpPr/>
          <p:nvPr/>
        </p:nvSpPr>
        <p:spPr>
          <a:xfrm>
            <a:off x="9212088" y="3918769"/>
            <a:ext cx="28415" cy="28415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106" name="Shape 104"/>
          <p:cNvSpPr/>
          <p:nvPr/>
        </p:nvSpPr>
        <p:spPr>
          <a:xfrm>
            <a:off x="9318646" y="3918769"/>
            <a:ext cx="28415" cy="28415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107" name="Shape 105"/>
          <p:cNvSpPr/>
          <p:nvPr/>
        </p:nvSpPr>
        <p:spPr>
          <a:xfrm>
            <a:off x="9105530" y="3954288"/>
            <a:ext cx="28415" cy="28415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108" name="Shape 106"/>
          <p:cNvSpPr/>
          <p:nvPr/>
        </p:nvSpPr>
        <p:spPr>
          <a:xfrm>
            <a:off x="9141050" y="3954288"/>
            <a:ext cx="28415" cy="28415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109" name="Shape 107"/>
          <p:cNvSpPr/>
          <p:nvPr/>
        </p:nvSpPr>
        <p:spPr>
          <a:xfrm>
            <a:off x="9247608" y="3954288"/>
            <a:ext cx="28415" cy="28415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110" name="Shape 108"/>
          <p:cNvSpPr/>
          <p:nvPr/>
        </p:nvSpPr>
        <p:spPr>
          <a:xfrm>
            <a:off x="9283127" y="3954288"/>
            <a:ext cx="28415" cy="28415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111" name="Shape 109"/>
          <p:cNvSpPr/>
          <p:nvPr/>
        </p:nvSpPr>
        <p:spPr>
          <a:xfrm>
            <a:off x="9318646" y="3954288"/>
            <a:ext cx="28415" cy="28415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112" name="Shape 110"/>
          <p:cNvSpPr/>
          <p:nvPr/>
        </p:nvSpPr>
        <p:spPr>
          <a:xfrm>
            <a:off x="9070011" y="3989808"/>
            <a:ext cx="28415" cy="28415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113" name="Shape 111"/>
          <p:cNvSpPr/>
          <p:nvPr/>
        </p:nvSpPr>
        <p:spPr>
          <a:xfrm>
            <a:off x="9105530" y="3989808"/>
            <a:ext cx="28415" cy="28415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114" name="Shape 112"/>
          <p:cNvSpPr/>
          <p:nvPr/>
        </p:nvSpPr>
        <p:spPr>
          <a:xfrm>
            <a:off x="9141050" y="3989808"/>
            <a:ext cx="28415" cy="28415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115" name="Shape 113"/>
          <p:cNvSpPr/>
          <p:nvPr/>
        </p:nvSpPr>
        <p:spPr>
          <a:xfrm>
            <a:off x="9176569" y="3989808"/>
            <a:ext cx="28415" cy="28415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116" name="Shape 114"/>
          <p:cNvSpPr/>
          <p:nvPr/>
        </p:nvSpPr>
        <p:spPr>
          <a:xfrm>
            <a:off x="9212088" y="3989808"/>
            <a:ext cx="28415" cy="28415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117" name="Shape 115"/>
          <p:cNvSpPr/>
          <p:nvPr/>
        </p:nvSpPr>
        <p:spPr>
          <a:xfrm>
            <a:off x="9318646" y="3989808"/>
            <a:ext cx="28415" cy="28415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118" name="Shape 116"/>
          <p:cNvSpPr/>
          <p:nvPr/>
        </p:nvSpPr>
        <p:spPr>
          <a:xfrm>
            <a:off x="9354166" y="3989808"/>
            <a:ext cx="28415" cy="28415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119" name="Shape 117"/>
          <p:cNvSpPr/>
          <p:nvPr/>
        </p:nvSpPr>
        <p:spPr>
          <a:xfrm>
            <a:off x="9212088" y="4025327"/>
            <a:ext cx="28415" cy="28415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120" name="Shape 118"/>
          <p:cNvSpPr/>
          <p:nvPr/>
        </p:nvSpPr>
        <p:spPr>
          <a:xfrm>
            <a:off x="9212088" y="4060846"/>
            <a:ext cx="28415" cy="28415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121" name="Shape 119"/>
          <p:cNvSpPr/>
          <p:nvPr/>
        </p:nvSpPr>
        <p:spPr>
          <a:xfrm>
            <a:off x="9247608" y="4060846"/>
            <a:ext cx="28415" cy="28415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122" name="Shape 120"/>
          <p:cNvSpPr/>
          <p:nvPr/>
        </p:nvSpPr>
        <p:spPr>
          <a:xfrm>
            <a:off x="9247608" y="4096366"/>
            <a:ext cx="28415" cy="28415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123" name="Shape 121"/>
          <p:cNvSpPr/>
          <p:nvPr/>
        </p:nvSpPr>
        <p:spPr>
          <a:xfrm>
            <a:off x="9318646" y="4096366"/>
            <a:ext cx="28415" cy="28415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124" name="Shape 122"/>
          <p:cNvSpPr/>
          <p:nvPr/>
        </p:nvSpPr>
        <p:spPr>
          <a:xfrm>
            <a:off x="9354166" y="4096366"/>
            <a:ext cx="28415" cy="28415"/>
          </a:xfrm>
          <a:prstGeom prst="rect">
            <a:avLst/>
          </a:prstGeom>
          <a:solidFill>
            <a:srgbClr val="12274A"/>
          </a:solidFill>
          <a:ln/>
        </p:spPr>
      </p:sp>
      <p:sp>
        <p:nvSpPr>
          <p:cNvPr id="125" name="Text 123"/>
          <p:cNvSpPr/>
          <p:nvPr/>
        </p:nvSpPr>
        <p:spPr>
          <a:xfrm>
            <a:off x="9528048" y="3758184"/>
            <a:ext cx="822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F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Lunch · MMC</a:t>
            </a:r>
            <a:endParaRPr lang="en-US" sz="850" dirty="0"/>
          </a:p>
        </p:txBody>
      </p:sp>
      <p:sp>
        <p:nvSpPr>
          <p:cNvPr id="126" name="Shape 124"/>
          <p:cNvSpPr/>
          <p:nvPr/>
        </p:nvSpPr>
        <p:spPr>
          <a:xfrm>
            <a:off x="9528048" y="3977640"/>
            <a:ext cx="822960" cy="201168"/>
          </a:xfrm>
          <a:prstGeom prst="roundRect">
            <a:avLst>
              <a:gd name="adj" fmla="val 50000"/>
            </a:avLst>
          </a:prstGeom>
          <a:solidFill>
            <a:srgbClr val="E2F6EE"/>
          </a:solidFill>
          <a:ln/>
        </p:spPr>
      </p:sp>
      <p:sp>
        <p:nvSpPr>
          <p:cNvPr id="127" name="Text 125"/>
          <p:cNvSpPr/>
          <p:nvPr/>
        </p:nvSpPr>
        <p:spPr>
          <a:xfrm>
            <a:off x="9528048" y="3977640"/>
            <a:ext cx="822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0E9F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Redeemed</a:t>
            </a:r>
            <a:endParaRPr lang="en-US" sz="650" dirty="0"/>
          </a:p>
        </p:txBody>
      </p:sp>
      <p:sp>
        <p:nvSpPr>
          <p:cNvPr id="128" name="Shape 126"/>
          <p:cNvSpPr/>
          <p:nvPr/>
        </p:nvSpPr>
        <p:spPr>
          <a:xfrm>
            <a:off x="8833104" y="5212080"/>
            <a:ext cx="1993392" cy="384048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129" name="Shape 127"/>
          <p:cNvSpPr/>
          <p:nvPr/>
        </p:nvSpPr>
        <p:spPr>
          <a:xfrm>
            <a:off x="9036558" y="5276088"/>
            <a:ext cx="91440" cy="91440"/>
          </a:xfrm>
          <a:prstGeom prst="ellipse">
            <a:avLst/>
          </a:prstGeom>
          <a:solidFill>
            <a:srgbClr val="2F6BFF"/>
          </a:solidFill>
          <a:ln/>
        </p:spPr>
      </p:sp>
      <p:sp>
        <p:nvSpPr>
          <p:cNvPr id="130" name="Text 128"/>
          <p:cNvSpPr/>
          <p:nvPr/>
        </p:nvSpPr>
        <p:spPr>
          <a:xfrm>
            <a:off x="8833104" y="5376672"/>
            <a:ext cx="4983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F6B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Voucher</a:t>
            </a:r>
            <a:endParaRPr lang="en-US" sz="650" dirty="0"/>
          </a:p>
        </p:txBody>
      </p:sp>
      <p:sp>
        <p:nvSpPr>
          <p:cNvPr id="131" name="Shape 129"/>
          <p:cNvSpPr/>
          <p:nvPr/>
        </p:nvSpPr>
        <p:spPr>
          <a:xfrm>
            <a:off x="9534906" y="5276088"/>
            <a:ext cx="91440" cy="91440"/>
          </a:xfrm>
          <a:prstGeom prst="ellipse">
            <a:avLst/>
          </a:prstGeom>
          <a:solidFill>
            <a:srgbClr val="8A96A8"/>
          </a:solidFill>
          <a:ln/>
        </p:spPr>
      </p:sp>
      <p:sp>
        <p:nvSpPr>
          <p:cNvPr id="132" name="Text 130"/>
          <p:cNvSpPr/>
          <p:nvPr/>
        </p:nvSpPr>
        <p:spPr>
          <a:xfrm>
            <a:off x="9331452" y="5376672"/>
            <a:ext cx="4983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C6A7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Press</a:t>
            </a:r>
            <a:endParaRPr lang="en-US" sz="650" dirty="0"/>
          </a:p>
        </p:txBody>
      </p:sp>
      <p:sp>
        <p:nvSpPr>
          <p:cNvPr id="133" name="Shape 131"/>
          <p:cNvSpPr/>
          <p:nvPr/>
        </p:nvSpPr>
        <p:spPr>
          <a:xfrm>
            <a:off x="10033254" y="5276088"/>
            <a:ext cx="91440" cy="91440"/>
          </a:xfrm>
          <a:prstGeom prst="ellipse">
            <a:avLst/>
          </a:prstGeom>
          <a:solidFill>
            <a:srgbClr val="8A96A8"/>
          </a:solidFill>
          <a:ln/>
        </p:spPr>
      </p:sp>
      <p:sp>
        <p:nvSpPr>
          <p:cNvPr id="134" name="Text 132"/>
          <p:cNvSpPr/>
          <p:nvPr/>
        </p:nvSpPr>
        <p:spPr>
          <a:xfrm>
            <a:off x="9829800" y="5376672"/>
            <a:ext cx="4983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C6A7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News</a:t>
            </a:r>
            <a:endParaRPr lang="en-US" sz="650" dirty="0"/>
          </a:p>
        </p:txBody>
      </p:sp>
      <p:sp>
        <p:nvSpPr>
          <p:cNvPr id="135" name="Shape 133"/>
          <p:cNvSpPr/>
          <p:nvPr/>
        </p:nvSpPr>
        <p:spPr>
          <a:xfrm>
            <a:off x="10531602" y="5276088"/>
            <a:ext cx="91440" cy="91440"/>
          </a:xfrm>
          <a:prstGeom prst="ellipse">
            <a:avLst/>
          </a:prstGeom>
          <a:solidFill>
            <a:srgbClr val="8A96A8"/>
          </a:solidFill>
          <a:ln/>
        </p:spPr>
      </p:sp>
      <p:sp>
        <p:nvSpPr>
          <p:cNvPr id="136" name="Text 134"/>
          <p:cNvSpPr/>
          <p:nvPr/>
        </p:nvSpPr>
        <p:spPr>
          <a:xfrm>
            <a:off x="10328148" y="5376672"/>
            <a:ext cx="4983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C6A7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Transport</a:t>
            </a:r>
            <a:endParaRPr lang="en-US" sz="650" dirty="0"/>
          </a:p>
        </p:txBody>
      </p:sp>
      <p:sp>
        <p:nvSpPr>
          <p:cNvPr id="137" name="Text 135"/>
          <p:cNvSpPr/>
          <p:nvPr/>
        </p:nvSpPr>
        <p:spPr>
          <a:xfrm>
            <a:off x="566928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AFC Asian Cup 2027  ·  Media Hub</a:t>
            </a:r>
            <a:endParaRPr lang="en-US" sz="900" dirty="0"/>
          </a:p>
        </p:txBody>
      </p:sp>
      <p:sp>
        <p:nvSpPr>
          <p:cNvPr id="138" name="Text 136"/>
          <p:cNvSpPr/>
          <p:nvPr/>
        </p:nvSpPr>
        <p:spPr>
          <a:xfrm>
            <a:off x="10710367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66928" y="548640"/>
            <a:ext cx="548640" cy="548640"/>
          </a:xfrm>
          <a:prstGeom prst="ellipse">
            <a:avLst/>
          </a:prstGeom>
          <a:solidFill>
            <a:srgbClr val="0E9F6E"/>
          </a:solidFill>
          <a:ln/>
        </p:spPr>
      </p:sp>
      <p:sp>
        <p:nvSpPr>
          <p:cNvPr id="3" name="Text 1"/>
          <p:cNvSpPr/>
          <p:nvPr/>
        </p:nvSpPr>
        <p:spPr>
          <a:xfrm>
            <a:off x="566928" y="5486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1344168" y="566928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Everything else is one tap away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1344168" y="1170432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Step 5 of 5  ·  Media Clients  ·  use the bottom navigation bar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566928" y="1965960"/>
            <a:ext cx="361188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DCE2EC"/>
            </a:solidFill>
            <a:prstDash val="solid"/>
          </a:ln>
          <a:effectLst>
            <a:outerShdw sx="100000" sy="100000" kx="0" ky="0" algn="bl" rotWithShape="0" blurRad="114300" dist="38100" dir="5400000">
              <a:srgbClr val="0F1A2E">
                <a:alpha val="12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795528" y="2240280"/>
            <a:ext cx="384048" cy="384048"/>
          </a:xfrm>
          <a:prstGeom prst="ellipse">
            <a:avLst/>
          </a:prstGeom>
          <a:solidFill>
            <a:srgbClr val="2F6BFF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1316736" y="219456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Voucher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822960" y="267919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A7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Request and show your meal vouchers.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453128" y="1965960"/>
            <a:ext cx="361188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DCE2EC"/>
            </a:solidFill>
            <a:prstDash val="solid"/>
          </a:ln>
          <a:effectLst>
            <a:outerShdw sx="100000" sy="100000" kx="0" ky="0" algn="bl" rotWithShape="0" blurRad="114300" dist="38100" dir="5400000">
              <a:srgbClr val="0F1A2E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81728" y="2240280"/>
            <a:ext cx="384048" cy="384048"/>
          </a:xfrm>
          <a:prstGeom prst="ellipse">
            <a:avLst/>
          </a:prstGeom>
          <a:solidFill>
            <a:srgbClr val="7A2BB8"/>
          </a:solidFill>
          <a:ln/>
        </p:spPr>
      </p:sp>
      <p:sp>
        <p:nvSpPr>
          <p:cNvPr id="13" name="Text 11"/>
          <p:cNvSpPr/>
          <p:nvPr/>
        </p:nvSpPr>
        <p:spPr>
          <a:xfrm>
            <a:off x="4681728" y="22402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202936" y="219456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Press Conferences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709160" y="267919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A7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Schedule with live status badges.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566928" y="3566160"/>
            <a:ext cx="361188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DCE2EC"/>
            </a:solidFill>
            <a:prstDash val="solid"/>
          </a:ln>
          <a:effectLst>
            <a:outerShdw sx="100000" sy="100000" kx="0" ky="0" algn="bl" rotWithShape="0" blurRad="114300" dist="38100" dir="5400000">
              <a:srgbClr val="0F1A2E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95528" y="3840480"/>
            <a:ext cx="384048" cy="384048"/>
          </a:xfrm>
          <a:prstGeom prst="ellipse">
            <a:avLst/>
          </a:prstGeom>
          <a:solidFill>
            <a:srgbClr val="B9710A"/>
          </a:solidFill>
          <a:ln/>
        </p:spPr>
      </p:sp>
      <p:sp>
        <p:nvSpPr>
          <p:cNvPr id="18" name="Text 16"/>
          <p:cNvSpPr/>
          <p:nvPr/>
        </p:nvSpPr>
        <p:spPr>
          <a:xfrm>
            <a:off x="795528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316736" y="379476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News &amp; Updates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822960" y="427939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A7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Announcements, alerts and operations.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4453128" y="3566160"/>
            <a:ext cx="3611880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12700">
            <a:solidFill>
              <a:srgbClr val="DCE2EC"/>
            </a:solidFill>
            <a:prstDash val="solid"/>
          </a:ln>
          <a:effectLst>
            <a:outerShdw sx="100000" sy="100000" kx="0" ky="0" algn="bl" rotWithShape="0" blurRad="114300" dist="38100" dir="5400000">
              <a:srgbClr val="0F1A2E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681728" y="3840480"/>
            <a:ext cx="384048" cy="384048"/>
          </a:xfrm>
          <a:prstGeom prst="ellipse">
            <a:avLst/>
          </a:prstGeom>
          <a:solidFill>
            <a:srgbClr val="0E9F6E"/>
          </a:solidFill>
          <a:ln/>
        </p:spPr>
      </p:sp>
      <p:sp>
        <p:nvSpPr>
          <p:cNvPr id="23" name="Text 21"/>
          <p:cNvSpPr/>
          <p:nvPr/>
        </p:nvSpPr>
        <p:spPr>
          <a:xfrm>
            <a:off x="4681728" y="384048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202936" y="3794760"/>
            <a:ext cx="2697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F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Transport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4709160" y="427939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A7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Shuttle routes, times and frequencies.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8778240" y="1554480"/>
            <a:ext cx="2194560" cy="4114800"/>
          </a:xfrm>
          <a:prstGeom prst="roundRect">
            <a:avLst>
              <a:gd name="adj" fmla="val 9167"/>
            </a:avLst>
          </a:prstGeom>
          <a:solidFill>
            <a:srgbClr val="0B1A33"/>
          </a:solidFill>
          <a:ln/>
          <a:effectLst>
            <a:outerShdw sx="100000" sy="100000" kx="0" ky="0" algn="bl" rotWithShape="0" blurRad="114300" dist="38100" dir="5400000">
              <a:srgbClr val="0F1A2E">
                <a:alpha val="12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8869680" y="1645920"/>
            <a:ext cx="2011680" cy="3931920"/>
          </a:xfrm>
          <a:prstGeom prst="roundRect">
            <a:avLst>
              <a:gd name="adj" fmla="val 7273"/>
            </a:avLst>
          </a:prstGeom>
          <a:solidFill>
            <a:srgbClr val="FFFFFF"/>
          </a:solidFill>
          <a:ln/>
        </p:spPr>
      </p:sp>
      <p:sp>
        <p:nvSpPr>
          <p:cNvPr id="28" name="Shape 26"/>
          <p:cNvSpPr/>
          <p:nvPr/>
        </p:nvSpPr>
        <p:spPr>
          <a:xfrm>
            <a:off x="8924544" y="1700784"/>
            <a:ext cx="1901952" cy="457200"/>
          </a:xfrm>
          <a:prstGeom prst="roundRect">
            <a:avLst>
              <a:gd name="adj" fmla="val 20000"/>
            </a:avLst>
          </a:prstGeom>
          <a:solidFill>
            <a:srgbClr val="12274A"/>
          </a:solidFill>
          <a:ln/>
        </p:spPr>
      </p:sp>
      <p:sp>
        <p:nvSpPr>
          <p:cNvPr id="29" name="Text 27"/>
          <p:cNvSpPr/>
          <p:nvPr/>
        </p:nvSpPr>
        <p:spPr>
          <a:xfrm>
            <a:off x="9052560" y="1700784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Media Hub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9052560" y="2423160"/>
            <a:ext cx="1645920" cy="365760"/>
          </a:xfrm>
          <a:prstGeom prst="roundRect">
            <a:avLst>
              <a:gd name="adj" fmla="val 50000"/>
            </a:avLst>
          </a:prstGeom>
          <a:solidFill>
            <a:srgbClr val="F5F8FC"/>
          </a:solidFill>
          <a:ln/>
        </p:spPr>
      </p:sp>
      <p:sp>
        <p:nvSpPr>
          <p:cNvPr id="31" name="Shape 29"/>
          <p:cNvSpPr/>
          <p:nvPr/>
        </p:nvSpPr>
        <p:spPr>
          <a:xfrm>
            <a:off x="9052560" y="2971800"/>
            <a:ext cx="1645920" cy="365760"/>
          </a:xfrm>
          <a:prstGeom prst="roundRect">
            <a:avLst>
              <a:gd name="adj" fmla="val 50000"/>
            </a:avLst>
          </a:prstGeom>
          <a:solidFill>
            <a:srgbClr val="F5F8FC"/>
          </a:solidFill>
          <a:ln/>
        </p:spPr>
      </p:sp>
      <p:sp>
        <p:nvSpPr>
          <p:cNvPr id="32" name="Shape 30"/>
          <p:cNvSpPr/>
          <p:nvPr/>
        </p:nvSpPr>
        <p:spPr>
          <a:xfrm>
            <a:off x="9052560" y="3520440"/>
            <a:ext cx="1645920" cy="365760"/>
          </a:xfrm>
          <a:prstGeom prst="roundRect">
            <a:avLst>
              <a:gd name="adj" fmla="val 50000"/>
            </a:avLst>
          </a:prstGeom>
          <a:solidFill>
            <a:srgbClr val="F5F8FC"/>
          </a:solidFill>
          <a:ln/>
        </p:spPr>
      </p:sp>
      <p:sp>
        <p:nvSpPr>
          <p:cNvPr id="33" name="Shape 31"/>
          <p:cNvSpPr/>
          <p:nvPr/>
        </p:nvSpPr>
        <p:spPr>
          <a:xfrm>
            <a:off x="9052560" y="4069080"/>
            <a:ext cx="1645920" cy="365760"/>
          </a:xfrm>
          <a:prstGeom prst="roundRect">
            <a:avLst>
              <a:gd name="adj" fmla="val 50000"/>
            </a:avLst>
          </a:prstGeom>
          <a:solidFill>
            <a:srgbClr val="F5F8FC"/>
          </a:solidFill>
          <a:ln/>
        </p:spPr>
      </p:sp>
      <p:sp>
        <p:nvSpPr>
          <p:cNvPr id="34" name="Shape 32"/>
          <p:cNvSpPr/>
          <p:nvPr/>
        </p:nvSpPr>
        <p:spPr>
          <a:xfrm>
            <a:off x="8924544" y="5120640"/>
            <a:ext cx="1901952" cy="384048"/>
          </a:xfrm>
          <a:prstGeom prst="rect">
            <a:avLst/>
          </a:prstGeom>
          <a:solidFill>
            <a:srgbClr val="F5F8FC"/>
          </a:solidFill>
          <a:ln/>
        </p:spPr>
      </p:sp>
      <p:sp>
        <p:nvSpPr>
          <p:cNvPr id="35" name="Shape 33"/>
          <p:cNvSpPr/>
          <p:nvPr/>
        </p:nvSpPr>
        <p:spPr>
          <a:xfrm>
            <a:off x="9116568" y="5184648"/>
            <a:ext cx="91440" cy="91440"/>
          </a:xfrm>
          <a:prstGeom prst="ellipse">
            <a:avLst/>
          </a:prstGeom>
          <a:solidFill>
            <a:srgbClr val="8A96A8"/>
          </a:solidFill>
          <a:ln/>
        </p:spPr>
      </p:sp>
      <p:sp>
        <p:nvSpPr>
          <p:cNvPr id="36" name="Text 34"/>
          <p:cNvSpPr/>
          <p:nvPr/>
        </p:nvSpPr>
        <p:spPr>
          <a:xfrm>
            <a:off x="8924544" y="5285232"/>
            <a:ext cx="475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C6A7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Voucher</a:t>
            </a:r>
            <a:endParaRPr lang="en-US" sz="650" dirty="0"/>
          </a:p>
        </p:txBody>
      </p:sp>
      <p:sp>
        <p:nvSpPr>
          <p:cNvPr id="37" name="Shape 35"/>
          <p:cNvSpPr/>
          <p:nvPr/>
        </p:nvSpPr>
        <p:spPr>
          <a:xfrm>
            <a:off x="9592056" y="5184648"/>
            <a:ext cx="91440" cy="91440"/>
          </a:xfrm>
          <a:prstGeom prst="ellipse">
            <a:avLst/>
          </a:prstGeom>
          <a:solidFill>
            <a:srgbClr val="8A96A8"/>
          </a:solidFill>
          <a:ln/>
        </p:spPr>
      </p:sp>
      <p:sp>
        <p:nvSpPr>
          <p:cNvPr id="38" name="Text 36"/>
          <p:cNvSpPr/>
          <p:nvPr/>
        </p:nvSpPr>
        <p:spPr>
          <a:xfrm>
            <a:off x="9400032" y="5285232"/>
            <a:ext cx="475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C6A7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Press</a:t>
            </a:r>
            <a:endParaRPr lang="en-US" sz="650" dirty="0"/>
          </a:p>
        </p:txBody>
      </p:sp>
      <p:sp>
        <p:nvSpPr>
          <p:cNvPr id="39" name="Shape 37"/>
          <p:cNvSpPr/>
          <p:nvPr/>
        </p:nvSpPr>
        <p:spPr>
          <a:xfrm>
            <a:off x="10067544" y="5184648"/>
            <a:ext cx="91440" cy="91440"/>
          </a:xfrm>
          <a:prstGeom prst="ellipse">
            <a:avLst/>
          </a:prstGeom>
          <a:solidFill>
            <a:srgbClr val="2F6BFF"/>
          </a:solidFill>
          <a:ln/>
        </p:spPr>
      </p:sp>
      <p:sp>
        <p:nvSpPr>
          <p:cNvPr id="40" name="Text 38"/>
          <p:cNvSpPr/>
          <p:nvPr/>
        </p:nvSpPr>
        <p:spPr>
          <a:xfrm>
            <a:off x="9875520" y="5285232"/>
            <a:ext cx="475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b="1" dirty="0">
                <a:solidFill>
                  <a:srgbClr val="2F6B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News</a:t>
            </a:r>
            <a:endParaRPr lang="en-US" sz="650" dirty="0"/>
          </a:p>
        </p:txBody>
      </p:sp>
      <p:sp>
        <p:nvSpPr>
          <p:cNvPr id="41" name="Shape 39"/>
          <p:cNvSpPr/>
          <p:nvPr/>
        </p:nvSpPr>
        <p:spPr>
          <a:xfrm>
            <a:off x="10543032" y="5184648"/>
            <a:ext cx="91440" cy="91440"/>
          </a:xfrm>
          <a:prstGeom prst="ellipse">
            <a:avLst/>
          </a:prstGeom>
          <a:solidFill>
            <a:srgbClr val="8A96A8"/>
          </a:solidFill>
          <a:ln/>
        </p:spPr>
      </p:sp>
      <p:sp>
        <p:nvSpPr>
          <p:cNvPr id="42" name="Text 40"/>
          <p:cNvSpPr/>
          <p:nvPr/>
        </p:nvSpPr>
        <p:spPr>
          <a:xfrm>
            <a:off x="10351008" y="5285232"/>
            <a:ext cx="47548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50" dirty="0">
                <a:solidFill>
                  <a:srgbClr val="5C6A7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Transport</a:t>
            </a:r>
            <a:endParaRPr lang="en-US" sz="650" dirty="0"/>
          </a:p>
        </p:txBody>
      </p:sp>
      <p:sp>
        <p:nvSpPr>
          <p:cNvPr id="43" name="Text 41"/>
          <p:cNvSpPr/>
          <p:nvPr/>
        </p:nvSpPr>
        <p:spPr>
          <a:xfrm>
            <a:off x="566928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AFC Asian Cup 2027  ·  Media Hub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10710367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566928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b="1" spc="300" kern="0" dirty="0">
                <a:solidFill>
                  <a:srgbClr val="0E9F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RULES</a:t>
            </a:r>
            <a:endParaRPr lang="en-US" sz="1250" dirty="0"/>
          </a:p>
        </p:txBody>
      </p:sp>
      <p:sp>
        <p:nvSpPr>
          <p:cNvPr id="3" name="Text 1"/>
          <p:cNvSpPr/>
          <p:nvPr/>
        </p:nvSpPr>
        <p:spPr>
          <a:xfrm>
            <a:off x="566928" y="868680"/>
            <a:ext cx="1105783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F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you can claim each day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1920240"/>
            <a:ext cx="534924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E8F0FF"/>
            </a:solidFill>
            <a:prstDash val="solid"/>
          </a:ln>
          <a:effectLst>
            <a:outerShdw sx="100000" sy="100000" kx="0" ky="0" algn="bl" rotWithShape="0" blurRad="114300" dist="38100" dir="5400000">
              <a:srgbClr val="0F1A2E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66928" y="1920240"/>
            <a:ext cx="5349240" cy="731520"/>
          </a:xfrm>
          <a:prstGeom prst="roundRect">
            <a:avLst>
              <a:gd name="adj" fmla="val 15000"/>
            </a:avLst>
          </a:prstGeom>
          <a:solidFill>
            <a:srgbClr val="2F6BFF"/>
          </a:solidFill>
          <a:ln/>
        </p:spPr>
      </p:sp>
      <p:sp>
        <p:nvSpPr>
          <p:cNvPr id="6" name="Shape 4"/>
          <p:cNvSpPr/>
          <p:nvPr/>
        </p:nvSpPr>
        <p:spPr>
          <a:xfrm>
            <a:off x="566928" y="2286000"/>
            <a:ext cx="5349240" cy="365760"/>
          </a:xfrm>
          <a:prstGeom prst="rect">
            <a:avLst/>
          </a:prstGeom>
          <a:solidFill>
            <a:srgbClr val="2F6BFF"/>
          </a:solidFill>
          <a:ln/>
        </p:spPr>
      </p:sp>
      <p:sp>
        <p:nvSpPr>
          <p:cNvPr id="7" name="Text 5"/>
          <p:cNvSpPr/>
          <p:nvPr/>
        </p:nvSpPr>
        <p:spPr>
          <a:xfrm>
            <a:off x="841248" y="1920240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Main Media Centre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66928" y="2926080"/>
            <a:ext cx="5349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F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1× Lunch  +  1× Dinner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932688" y="3703320"/>
            <a:ext cx="4617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C6A7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 may hold both — but not two of the same meal at the same place on the same day.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75527" y="1920240"/>
            <a:ext cx="5349240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12700">
            <a:solidFill>
              <a:srgbClr val="F1E5FB"/>
            </a:solidFill>
            <a:prstDash val="solid"/>
          </a:ln>
          <a:effectLst>
            <a:outerShdw sx="100000" sy="100000" kx="0" ky="0" algn="bl" rotWithShape="0" blurRad="114300" dist="38100" dir="5400000">
              <a:srgbClr val="0F1A2E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6275527" y="1920240"/>
            <a:ext cx="5349240" cy="731520"/>
          </a:xfrm>
          <a:prstGeom prst="roundRect">
            <a:avLst>
              <a:gd name="adj" fmla="val 15000"/>
            </a:avLst>
          </a:prstGeom>
          <a:solidFill>
            <a:srgbClr val="7A2BB8"/>
          </a:solidFill>
          <a:ln/>
        </p:spPr>
      </p:sp>
      <p:sp>
        <p:nvSpPr>
          <p:cNvPr id="12" name="Shape 10"/>
          <p:cNvSpPr/>
          <p:nvPr/>
        </p:nvSpPr>
        <p:spPr>
          <a:xfrm>
            <a:off x="6275527" y="2286000"/>
            <a:ext cx="5349240" cy="365760"/>
          </a:xfrm>
          <a:prstGeom prst="rect">
            <a:avLst/>
          </a:prstGeom>
          <a:solidFill>
            <a:srgbClr val="7A2BB8"/>
          </a:solidFill>
          <a:ln/>
        </p:spPr>
      </p:sp>
      <p:sp>
        <p:nvSpPr>
          <p:cNvPr id="13" name="Text 11"/>
          <p:cNvSpPr/>
          <p:nvPr/>
        </p:nvSpPr>
        <p:spPr>
          <a:xfrm>
            <a:off x="6549847" y="1920240"/>
            <a:ext cx="4800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Stadiums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275527" y="2926080"/>
            <a:ext cx="5349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0F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1× Meal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6641287" y="3703320"/>
            <a:ext cx="4617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dirty="0">
                <a:solidFill>
                  <a:srgbClr val="5C6A7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One meal total per stadium per day — grants access to the venue Media Café.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66928" y="4754880"/>
            <a:ext cx="11057839" cy="640080"/>
          </a:xfrm>
          <a:prstGeom prst="roundRect">
            <a:avLst>
              <a:gd name="adj" fmla="val 17143"/>
            </a:avLst>
          </a:prstGeom>
          <a:solidFill>
            <a:srgbClr val="F5F8FC"/>
          </a:solidFill>
          <a:ln w="12700">
            <a:solidFill>
              <a:srgbClr val="DCE2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86968" y="4754880"/>
            <a:ext cx="1041775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1A2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Per email, per day, enforced centrally. </a:t>
            </a:r>
            <a:pPr algn="ctr" indent="0" marL="0">
              <a:buNone/>
            </a:pPr>
            <a:r>
              <a:rPr lang="en-US" sz="1300" dirty="0">
                <a:solidFill>
                  <a:srgbClr val="5C6A7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Training Sites are transport &amp; info only — no meal vouchers. Limits reset at local midnight.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566928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8A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AFC Asian Cup 2027  ·  Media Hub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10710367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96A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227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64008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400" kern="0" dirty="0">
                <a:solidFill>
                  <a:srgbClr val="6FA0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QUICK REFERENCE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1005840"/>
            <a:ext cx="1105783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Keep this handy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566928" y="2103120"/>
            <a:ext cx="5349240" cy="2743200"/>
          </a:xfrm>
          <a:prstGeom prst="roundRect">
            <a:avLst>
              <a:gd name="adj" fmla="val 4667"/>
            </a:avLst>
          </a:prstGeom>
          <a:solidFill>
            <a:srgbClr val="17305A"/>
          </a:solidFill>
          <a:ln/>
        </p:spPr>
      </p:sp>
      <p:sp>
        <p:nvSpPr>
          <p:cNvPr id="5" name="Shape 3"/>
          <p:cNvSpPr/>
          <p:nvPr/>
        </p:nvSpPr>
        <p:spPr>
          <a:xfrm>
            <a:off x="841248" y="2359152"/>
            <a:ext cx="2103120" cy="411480"/>
          </a:xfrm>
          <a:prstGeom prst="roundRect">
            <a:avLst>
              <a:gd name="adj" fmla="val 50000"/>
            </a:avLst>
          </a:prstGeom>
          <a:solidFill>
            <a:srgbClr val="2F6BFF"/>
          </a:solidFill>
          <a:ln/>
        </p:spPr>
      </p:sp>
      <p:sp>
        <p:nvSpPr>
          <p:cNvPr id="6" name="Text 4"/>
          <p:cNvSpPr/>
          <p:nvPr/>
        </p:nvSpPr>
        <p:spPr>
          <a:xfrm>
            <a:off x="841248" y="2359152"/>
            <a:ext cx="2103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Administrators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32688" y="3017520"/>
            <a:ext cx="4617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3A4C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Admin:   </a:t>
            </a:r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afc2027-media-hub.onrender.com/admin
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3A4C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Key:      </a:t>
            </a:r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your private admin key
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3A4C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Redeem:  </a:t>
            </a:r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Redeemer tab (scan / type)
</a:t>
            </a:r>
            <a:endParaRPr lang="en-US" sz="12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200" dirty="0">
                <a:solidFill>
                  <a:srgbClr val="93A4C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Export:   </a:t>
            </a:r>
            <a:pPr indent="0" marL="0">
              <a:lnSpc>
                <a:spcPct val="130000"/>
              </a:lnSpc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Overview → Export CSV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275527" y="2103120"/>
            <a:ext cx="5349240" cy="2743200"/>
          </a:xfrm>
          <a:prstGeom prst="roundRect">
            <a:avLst>
              <a:gd name="adj" fmla="val 4667"/>
            </a:avLst>
          </a:prstGeom>
          <a:solidFill>
            <a:srgbClr val="143E30"/>
          </a:solidFill>
          <a:ln/>
        </p:spPr>
      </p:sp>
      <p:sp>
        <p:nvSpPr>
          <p:cNvPr id="9" name="Shape 7"/>
          <p:cNvSpPr/>
          <p:nvPr/>
        </p:nvSpPr>
        <p:spPr>
          <a:xfrm>
            <a:off x="6549847" y="2359152"/>
            <a:ext cx="2011680" cy="411480"/>
          </a:xfrm>
          <a:prstGeom prst="roundRect">
            <a:avLst>
              <a:gd name="adj" fmla="val 50000"/>
            </a:avLst>
          </a:prstGeom>
          <a:solidFill>
            <a:srgbClr val="0E9F6E"/>
          </a:solidFill>
          <a:ln/>
        </p:spPr>
      </p:sp>
      <p:sp>
        <p:nvSpPr>
          <p:cNvPr id="10" name="Text 8"/>
          <p:cNvSpPr/>
          <p:nvPr/>
        </p:nvSpPr>
        <p:spPr>
          <a:xfrm>
            <a:off x="6549847" y="2359152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Media Clients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641287" y="3017520"/>
            <a:ext cx="4617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CF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Open:      </a:t>
            </a:r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afc2027-media-hub.onrender.com
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CF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Install:    </a:t>
            </a:r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Share → Add to Home Screen
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CF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First time: </a:t>
            </a:r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email + accreditation
</a:t>
            </a:r>
            <a:endParaRPr lang="en-US" sz="11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A9CFB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Then:       </a:t>
            </a:r>
            <a:pPr indent="0" marL="0">
              <a:lnSpc>
                <a:spcPct val="130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email only — vouchers saved all day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66928" y="5166360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You’re ready — enjoy the tournament.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566928" y="6446520"/>
            <a:ext cx="6400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3A4C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AFC Asian Cup 2027  ·  Media Hub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0710367" y="644652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3A4C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Media Hub — Setup &amp; Onboarding Guide</dc:title>
  <dc:subject>PptxGenJS Presentation</dc:subject>
  <dc:creator>AFC Asian Cup 2027 Media Operations</dc:creator>
  <cp:lastModifiedBy>AFC Asian Cup 2027 Media Operations</cp:lastModifiedBy>
  <cp:revision>1</cp:revision>
  <dcterms:created xsi:type="dcterms:W3CDTF">2026-06-25T12:48:23Z</dcterms:created>
  <dcterms:modified xsi:type="dcterms:W3CDTF">2026-06-25T12:48:23Z</dcterms:modified>
</cp:coreProperties>
</file>