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A2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A2E"/>
                </a:solidFill>
                <a:latin typeface="Arial"/>
              </a:rPr>
              <a:t>Vouchers by meal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Vouchers</c:v>
                </c:pt>
              </c:strCache>
            </c:strRef>
          </c:tx>
          <c:spPr>
            <a:solidFill>
              <a:srgbClr val="2F6B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6B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27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2BB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Lunch</c:v>
                  </c:pt>
                  <c:pt idx="1">
                    <c:v>Dinner</c:v>
                  </c:pt>
                  <c:pt idx="2">
                    <c:v>Stadium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A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1E3A6B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108960" cy="3108960"/>
          </a:xfrm>
          <a:prstGeom prst="ellipse">
            <a:avLst/>
          </a:prstGeom>
          <a:solidFill>
            <a:srgbClr val="16305C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2148840"/>
            <a:ext cx="1737360" cy="1737360"/>
          </a:xfrm>
          <a:prstGeom prst="roundRect">
            <a:avLst>
              <a:gd name="adj" fmla="val 22105"/>
            </a:avLst>
          </a:prstGeom>
          <a:solidFill>
            <a:srgbClr val="2F6BFF"/>
          </a:solidFill>
          <a:ln/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235440" y="2807208"/>
            <a:ext cx="1005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628632" y="2697480"/>
            <a:ext cx="219456" cy="219456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7" name="Shape 5"/>
          <p:cNvSpPr/>
          <p:nvPr/>
        </p:nvSpPr>
        <p:spPr>
          <a:xfrm>
            <a:off x="9628632" y="3172968"/>
            <a:ext cx="219456" cy="219456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FA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 &amp; ONBOARDING GUIDE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18288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Hub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566928" y="3063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DB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Meal Vouchers &amp; Media Information — AFC Asian Cup 2027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66928" y="397764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977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Administrators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035808" y="397764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4" name="Text 12"/>
          <p:cNvSpPr/>
          <p:nvPr/>
        </p:nvSpPr>
        <p:spPr>
          <a:xfrm>
            <a:off x="3035808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Media Clients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run the system — and how to install it on your team’s phones.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apps, powered by one local server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3492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F6EE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82880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0E9F6E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221992"/>
            <a:ext cx="5349240" cy="384048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8288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App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41248" y="18288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D8F3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every phone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78892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accredited media members.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meal vouchers — get a QR ticket.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 conferences, news &amp; shuttle info.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86968" y="38404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http://&lt;host&gt;:3000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5527" y="1828800"/>
            <a:ext cx="53492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F0F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75527" y="1828800"/>
            <a:ext cx="5349240" cy="777240"/>
          </a:xfrm>
          <a:prstGeom prst="roundRect">
            <a:avLst>
              <a:gd name="adj" fmla="val 14118"/>
            </a:avLst>
          </a:prstGeom>
          <a:solidFill>
            <a:srgbClr val="1227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75527" y="2221992"/>
            <a:ext cx="5349240" cy="384048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49847" y="18288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Dashboard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49847" y="18288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FD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the media desk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95567" y="278892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event organizers.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analytics &amp; voucher monitoring.</a:t>
            </a:r>
            <a:endParaRPr lang="en-US" sz="1350" dirty="0"/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news &amp; press conferences.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95567" y="3840480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http://&lt;host&gt;:3000/admin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4617720"/>
            <a:ext cx="11057839" cy="868680"/>
          </a:xfrm>
          <a:prstGeom prst="roundRect">
            <a:avLst>
              <a:gd name="adj" fmla="val 12632"/>
            </a:avLst>
          </a:prstGeom>
          <a:solidFill>
            <a:srgbClr val="FBEFD9"/>
          </a:solidFill>
          <a:ln w="12700">
            <a:solidFill>
              <a:srgbClr val="F1DC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4617720"/>
            <a:ext cx="104177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710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 server?  </a:t>
            </a:r>
            <a:pPr algn="l" indent="0" marL="0">
              <a:buNone/>
            </a:pPr>
            <a:r>
              <a:rPr lang="en-US" sz="1350" dirty="0">
                <a:solidFill>
                  <a:srgbClr val="7A4E0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voucher is recorded centrally — so daily limits apply to everyone and can’t be bypassed with incognito mode or by clearing the browser cache.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laptop. Your Wi-Fi. Everyone’s phone.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32004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55648" y="2514600"/>
            <a:ext cx="822960" cy="822960"/>
          </a:xfrm>
          <a:prstGeom prst="ellipse">
            <a:avLst/>
          </a:prstGeom>
          <a:solidFill>
            <a:srgbClr val="12274A"/>
          </a:solidFill>
          <a:ln/>
        </p:spPr>
      </p:sp>
      <p:sp>
        <p:nvSpPr>
          <p:cNvPr id="6" name="Text 4"/>
          <p:cNvSpPr/>
          <p:nvPr/>
        </p:nvSpPr>
        <p:spPr>
          <a:xfrm>
            <a:off x="1755648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laptop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95528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the server and stores all data (data.json).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4315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22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start.bat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95648" y="2194560"/>
            <a:ext cx="32004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84368" y="2514600"/>
            <a:ext cx="822960" cy="82296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2" name="Text 10"/>
          <p:cNvSpPr/>
          <p:nvPr/>
        </p:nvSpPr>
        <p:spPr>
          <a:xfrm>
            <a:off x="5684368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78528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Venue Wi-Fi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24248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the laptop and the phones on one network.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78528" y="4315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network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24367" y="2194560"/>
            <a:ext cx="32004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13087" y="2514600"/>
            <a:ext cx="822960" cy="82296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8" name="Text 16"/>
          <p:cNvSpPr/>
          <p:nvPr/>
        </p:nvSpPr>
        <p:spPr>
          <a:xfrm>
            <a:off x="9613087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607247" y="3429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phones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52967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app in any browser — no app store needed.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07247" y="43159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9F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http://&lt;ip&gt;:3000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0" y="3429000"/>
            <a:ext cx="582016" cy="0"/>
          </a:xfrm>
          <a:prstGeom prst="line">
            <a:avLst/>
          </a:prstGeom>
          <a:noFill/>
          <a:ln w="25400">
            <a:solidFill>
              <a:srgbClr val="8A96A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69200" y="3429000"/>
            <a:ext cx="582016" cy="0"/>
          </a:xfrm>
          <a:prstGeom prst="line">
            <a:avLst/>
          </a:prstGeom>
          <a:noFill/>
          <a:ln w="25400">
            <a:solidFill>
              <a:srgbClr val="8A96A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66928" y="5120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laptop is the single source of truth — limits are checked there, for every request, from every device.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6FA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Administrators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DB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the system in five simple steps.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928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7305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the server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79776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7305A"/>
          </a:solidFill>
          <a:ln/>
        </p:spPr>
      </p:sp>
      <p:sp>
        <p:nvSpPr>
          <p:cNvPr id="10" name="Text 8"/>
          <p:cNvSpPr/>
          <p:nvPr/>
        </p:nvSpPr>
        <p:spPr>
          <a:xfrm>
            <a:off x="2944368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44368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92624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7305A"/>
          </a:solidFill>
          <a:ln/>
        </p:spPr>
      </p:sp>
      <p:sp>
        <p:nvSpPr>
          <p:cNvPr id="13" name="Text 11"/>
          <p:cNvSpPr/>
          <p:nvPr/>
        </p:nvSpPr>
        <p:spPr>
          <a:xfrm>
            <a:off x="5157216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57216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the analytics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05472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7305A"/>
          </a:solidFill>
          <a:ln/>
        </p:spPr>
      </p:sp>
      <p:sp>
        <p:nvSpPr>
          <p:cNvPr id="16" name="Text 14"/>
          <p:cNvSpPr/>
          <p:nvPr/>
        </p:nvSpPr>
        <p:spPr>
          <a:xfrm>
            <a:off x="7370064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70064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 the content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418320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7305A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912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582912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7EE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the link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548640" cy="54864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56692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the server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of 5  ·  Administrators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Double-click start.bat (Windows).</a:t>
            </a:r>
            <a:endParaRPr lang="en-US" sz="14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installation needed — a self-contained Node.js is bundled in the folder.</a:t>
            </a:r>
            <a:endParaRPr lang="en-US" sz="14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console window opens and prints the addresses to use.</a:t>
            </a:r>
            <a:endParaRPr lang="en-US" sz="145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this window open during the event — closing it stops the server.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800600"/>
            <a:ext cx="5212080" cy="457200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800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Also works with  npm start  if you install Node yourself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269687" cy="3246120"/>
          </a:xfrm>
          <a:prstGeom prst="roundRect">
            <a:avLst>
              <a:gd name="adj" fmla="val 3380"/>
            </a:avLst>
          </a:prstGeom>
          <a:solidFill>
            <a:srgbClr val="0B1A33"/>
          </a:solidFill>
          <a:ln/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029968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Shape 9"/>
          <p:cNvSpPr/>
          <p:nvPr/>
        </p:nvSpPr>
        <p:spPr>
          <a:xfrm>
            <a:off x="6812280" y="2029968"/>
            <a:ext cx="128016" cy="128016"/>
          </a:xfrm>
          <a:prstGeom prst="ellipse">
            <a:avLst/>
          </a:prstGeom>
          <a:solidFill>
            <a:srgbClr val="F9C23C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0" y="2029968"/>
            <a:ext cx="128016" cy="128016"/>
          </a:xfrm>
          <a:prstGeom prst="ellipse">
            <a:avLst/>
          </a:prstGeom>
          <a:solidFill>
            <a:srgbClr val="3FBF6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1947672"/>
            <a:ext cx="52696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Prompt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2395728"/>
            <a:ext cx="4721047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D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AFC Asian Cup 2027 | Media Hub - running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4D66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7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app   -&gt; http://localhost:3000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7FE8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panel  -&gt; http://localhost:3000/admin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6FA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phones    -&gt; http://10.0.34.23:3000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150" dirty="0">
                <a:solidFill>
                  <a:srgbClr val="F9C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key: "afc2027-media"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548640" cy="54864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5669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Admin Dashboard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of 5  ·  Administrators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384048" cy="384048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188366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to the admin URL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the laptop, open  http://localhost:3000/admin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834640"/>
            <a:ext cx="384048" cy="384048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" y="279806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the admin key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Default:  afc2027-media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3749040"/>
            <a:ext cx="384048" cy="384048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" y="3712464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the key anytime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the ADMIN_KEY value before starting the server.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4754880"/>
            <a:ext cx="5212080" cy="457200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7548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key is remembered only for that browser session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1828800"/>
            <a:ext cx="5223967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19088" y="1865376"/>
            <a:ext cx="5187391" cy="420624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601968" y="201168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Shape 18"/>
          <p:cNvSpPr/>
          <p:nvPr/>
        </p:nvSpPr>
        <p:spPr>
          <a:xfrm>
            <a:off x="6803136" y="2011680"/>
            <a:ext cx="109728" cy="109728"/>
          </a:xfrm>
          <a:prstGeom prst="ellipse">
            <a:avLst/>
          </a:prstGeom>
          <a:solidFill>
            <a:srgbClr val="F9C23C"/>
          </a:solidFill>
          <a:ln/>
        </p:spPr>
      </p:sp>
      <p:sp>
        <p:nvSpPr>
          <p:cNvPr id="21" name="Shape 19"/>
          <p:cNvSpPr/>
          <p:nvPr/>
        </p:nvSpPr>
        <p:spPr>
          <a:xfrm>
            <a:off x="7004304" y="2011680"/>
            <a:ext cx="109728" cy="109728"/>
          </a:xfrm>
          <a:prstGeom prst="ellipse">
            <a:avLst/>
          </a:prstGeom>
          <a:solidFill>
            <a:srgbClr val="3FBF6A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0" y="1947672"/>
            <a:ext cx="403524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52360" y="1947672"/>
            <a:ext cx="38523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localhost:3000/admin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784184" y="2615184"/>
            <a:ext cx="548640" cy="548640"/>
          </a:xfrm>
          <a:prstGeom prst="ellipse">
            <a:avLst/>
          </a:prstGeom>
          <a:solidFill>
            <a:srgbClr val="12274A"/>
          </a:solidFill>
          <a:ln/>
        </p:spPr>
      </p:sp>
      <p:sp>
        <p:nvSpPr>
          <p:cNvPr id="25" name="Shape 23"/>
          <p:cNvSpPr/>
          <p:nvPr/>
        </p:nvSpPr>
        <p:spPr>
          <a:xfrm>
            <a:off x="8967064" y="2798064"/>
            <a:ext cx="182880" cy="1645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3255264"/>
            <a:ext cx="518739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 access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641184" y="3712464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F5F8F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8344" y="371246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• • • • • • • • •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41184" y="4261104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2F6BFF"/>
          </a:solidFill>
          <a:ln/>
        </p:spPr>
      </p:sp>
      <p:sp>
        <p:nvSpPr>
          <p:cNvPr id="30" name="Text 28"/>
          <p:cNvSpPr/>
          <p:nvPr/>
        </p:nvSpPr>
        <p:spPr>
          <a:xfrm>
            <a:off x="7641184" y="42611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Unlock dashboard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548640" cy="54864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5669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vouchers in real time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of 5  ·  Administrators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Counters</a:t>
            </a:r>
            <a:endParaRPr lang="en-US" sz="135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issued, issued today, registered media, stadium meals.</a:t>
            </a:r>
            <a:endParaRPr lang="en-US" sz="135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Charts</a:t>
            </a:r>
            <a:endParaRPr lang="en-US" sz="135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Breakdown by meal type and by location.</a:t>
            </a:r>
            <a:endParaRPr lang="en-US" sz="135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feed</a:t>
            </a:r>
            <a:endParaRPr lang="en-US" sz="1350" dirty="0"/>
          </a:p>
          <a:p>
            <a:pPr algn="l" marL="203200" indent="-2032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Recently issued vouchers — auto-refreshes every 5 seconds.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212080" y="1783080"/>
            <a:ext cx="6412687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30368" y="1819656"/>
            <a:ext cx="6376111" cy="420624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9" name="Shape 7"/>
          <p:cNvSpPr/>
          <p:nvPr/>
        </p:nvSpPr>
        <p:spPr>
          <a:xfrm>
            <a:off x="5413248" y="196596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Shape 8"/>
          <p:cNvSpPr/>
          <p:nvPr/>
        </p:nvSpPr>
        <p:spPr>
          <a:xfrm>
            <a:off x="5614416" y="1965960"/>
            <a:ext cx="109728" cy="109728"/>
          </a:xfrm>
          <a:prstGeom prst="ellipse">
            <a:avLst/>
          </a:prstGeom>
          <a:solidFill>
            <a:srgbClr val="F9C23C"/>
          </a:solidFill>
          <a:ln/>
        </p:spPr>
      </p:sp>
      <p:sp>
        <p:nvSpPr>
          <p:cNvPr id="11" name="Shape 9"/>
          <p:cNvSpPr/>
          <p:nvPr/>
        </p:nvSpPr>
        <p:spPr>
          <a:xfrm>
            <a:off x="5815584" y="1965960"/>
            <a:ext cx="109728" cy="109728"/>
          </a:xfrm>
          <a:prstGeom prst="ellipse">
            <a:avLst/>
          </a:prstGeom>
          <a:solidFill>
            <a:srgbClr val="3FBF6A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1901952"/>
            <a:ext cx="5223967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901952"/>
            <a:ext cx="50410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A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localhost:3000/admin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13248" y="2432304"/>
            <a:ext cx="2913736" cy="777240"/>
          </a:xfrm>
          <a:prstGeom prst="roundRect">
            <a:avLst>
              <a:gd name="adj" fmla="val 14118"/>
            </a:avLst>
          </a:prstGeom>
          <a:solidFill>
            <a:srgbClr val="F5F8F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96128" y="2478024"/>
            <a:ext cx="2547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596128" y="2862072"/>
            <a:ext cx="2547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Issued today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09864" y="2432304"/>
            <a:ext cx="2913736" cy="777240"/>
          </a:xfrm>
          <a:prstGeom prst="roundRect">
            <a:avLst>
              <a:gd name="adj" fmla="val 14118"/>
            </a:avLst>
          </a:prstGeom>
          <a:solidFill>
            <a:srgbClr val="F5F8F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92744" y="2478024"/>
            <a:ext cx="2547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2B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692744" y="2862072"/>
            <a:ext cx="2547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Registered media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367528" y="3346704"/>
          <a:ext cx="6101791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548640" cy="54864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566928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news &amp; press conferences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 of 5  ·  Administrators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534924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130552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1305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News Manager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968" y="274320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Add, edit or delete updates.</a:t>
            </a:r>
            <a:endParaRPr lang="en-US" sz="13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a category (Alert, Transport, Catering…).</a:t>
            </a:r>
            <a:endParaRPr lang="en-US" sz="13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Optionally Pin an item to the top.</a:t>
            </a:r>
            <a:endParaRPr lang="en-US" sz="13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Appears instantly in the client News tab.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5527" y="1874520"/>
            <a:ext cx="534924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9847" y="2130552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49847" y="21305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 Manager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95567" y="274320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or update conferences.</a:t>
            </a:r>
            <a:endParaRPr lang="en-US" sz="13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date, time, team and room.</a:t>
            </a:r>
            <a:endParaRPr lang="en-US" sz="13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status: Scheduled · Live · Delayed · Concluded.</a:t>
            </a:r>
            <a:endParaRPr lang="en-US" sz="1350" dirty="0"/>
          </a:p>
          <a:p>
            <a:pPr algn="l"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on the client Press tab with a status badge.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4754880"/>
            <a:ext cx="11057839" cy="640080"/>
          </a:xfrm>
          <a:prstGeom prst="roundRect">
            <a:avLst>
              <a:gd name="adj" fmla="val 17143"/>
            </a:avLst>
          </a:prstGeom>
          <a:solidFill>
            <a:srgbClr val="F5F8F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4754880"/>
            <a:ext cx="10417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Saved to the server. </a:t>
            </a:r>
            <a:pPr indent="0" marL="0">
              <a:buNone/>
            </a:pPr>
            <a:r>
              <a:rPr lang="en-US" sz="13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phone sees the change on its next refresh.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548640" cy="54864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5669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clients the address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 of 5  ·  Administrators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384048" cy="384048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1883664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“On phones” address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console, e.g.  http://10.0.34.23:3000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880360"/>
            <a:ext cx="384048" cy="384048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" y="2843784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it easy to reach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 it as a QR code or a poster at the media desk.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3840480"/>
            <a:ext cx="384048" cy="384048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" y="3803904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run only: allow the firewall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 “Private networks” on the Windows Defender prompt.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680960" y="1828800"/>
            <a:ext cx="3943807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680960" y="2057400"/>
            <a:ext cx="39438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to open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80960" y="2377440"/>
            <a:ext cx="39438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Media Hub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29904" y="2788920"/>
            <a:ext cx="16459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27414" y="2986430"/>
            <a:ext cx="350252" cy="35025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20" name="Shape 18"/>
          <p:cNvSpPr/>
          <p:nvPr/>
        </p:nvSpPr>
        <p:spPr>
          <a:xfrm>
            <a:off x="9104469" y="3063486"/>
            <a:ext cx="196141" cy="1961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153505" y="3112521"/>
            <a:ext cx="98070" cy="98070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22" name="Shape 20"/>
          <p:cNvSpPr/>
          <p:nvPr/>
        </p:nvSpPr>
        <p:spPr>
          <a:xfrm>
            <a:off x="9928061" y="2986430"/>
            <a:ext cx="350252" cy="35025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05117" y="3063486"/>
            <a:ext cx="196141" cy="1961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54152" y="3112521"/>
            <a:ext cx="98070" cy="98070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25" name="Shape 23"/>
          <p:cNvSpPr/>
          <p:nvPr/>
        </p:nvSpPr>
        <p:spPr>
          <a:xfrm>
            <a:off x="9027414" y="3887078"/>
            <a:ext cx="350252" cy="35025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26" name="Shape 24"/>
          <p:cNvSpPr/>
          <p:nvPr/>
        </p:nvSpPr>
        <p:spPr>
          <a:xfrm>
            <a:off x="9104469" y="3964133"/>
            <a:ext cx="196141" cy="1961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9153505" y="4013168"/>
            <a:ext cx="98070" cy="98070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28" name="Shape 26"/>
          <p:cNvSpPr/>
          <p:nvPr/>
        </p:nvSpPr>
        <p:spPr>
          <a:xfrm>
            <a:off x="9597268" y="3000329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29" name="Shape 27"/>
          <p:cNvSpPr/>
          <p:nvPr/>
        </p:nvSpPr>
        <p:spPr>
          <a:xfrm>
            <a:off x="9458279" y="3139318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0" name="Shape 28"/>
          <p:cNvSpPr/>
          <p:nvPr/>
        </p:nvSpPr>
        <p:spPr>
          <a:xfrm>
            <a:off x="9597268" y="3139318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1" name="Shape 29"/>
          <p:cNvSpPr/>
          <p:nvPr/>
        </p:nvSpPr>
        <p:spPr>
          <a:xfrm>
            <a:off x="9597268" y="3278307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2" name="Shape 30"/>
          <p:cNvSpPr/>
          <p:nvPr/>
        </p:nvSpPr>
        <p:spPr>
          <a:xfrm>
            <a:off x="9180302" y="3417296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3" name="Shape 31"/>
          <p:cNvSpPr/>
          <p:nvPr/>
        </p:nvSpPr>
        <p:spPr>
          <a:xfrm>
            <a:off x="9597268" y="3417296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14234" y="3417296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5" name="Shape 33"/>
          <p:cNvSpPr/>
          <p:nvPr/>
        </p:nvSpPr>
        <p:spPr>
          <a:xfrm>
            <a:off x="9180302" y="3556284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6" name="Shape 34"/>
          <p:cNvSpPr/>
          <p:nvPr/>
        </p:nvSpPr>
        <p:spPr>
          <a:xfrm>
            <a:off x="9319290" y="3556284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7" name="Shape 35"/>
          <p:cNvSpPr/>
          <p:nvPr/>
        </p:nvSpPr>
        <p:spPr>
          <a:xfrm>
            <a:off x="9736257" y="3556284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8" name="Shape 36"/>
          <p:cNvSpPr/>
          <p:nvPr/>
        </p:nvSpPr>
        <p:spPr>
          <a:xfrm>
            <a:off x="9875246" y="3556284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9" name="Shape 37"/>
          <p:cNvSpPr/>
          <p:nvPr/>
        </p:nvSpPr>
        <p:spPr>
          <a:xfrm>
            <a:off x="10014234" y="3556284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0" name="Shape 38"/>
          <p:cNvSpPr/>
          <p:nvPr/>
        </p:nvSpPr>
        <p:spPr>
          <a:xfrm>
            <a:off x="9041313" y="3695273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1" name="Shape 39"/>
          <p:cNvSpPr/>
          <p:nvPr/>
        </p:nvSpPr>
        <p:spPr>
          <a:xfrm>
            <a:off x="9180302" y="3695273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2" name="Shape 40"/>
          <p:cNvSpPr/>
          <p:nvPr/>
        </p:nvSpPr>
        <p:spPr>
          <a:xfrm>
            <a:off x="9319290" y="3695273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3" name="Shape 41"/>
          <p:cNvSpPr/>
          <p:nvPr/>
        </p:nvSpPr>
        <p:spPr>
          <a:xfrm>
            <a:off x="9458279" y="3695273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4" name="Shape 42"/>
          <p:cNvSpPr/>
          <p:nvPr/>
        </p:nvSpPr>
        <p:spPr>
          <a:xfrm>
            <a:off x="9597268" y="3695273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5" name="Shape 43"/>
          <p:cNvSpPr/>
          <p:nvPr/>
        </p:nvSpPr>
        <p:spPr>
          <a:xfrm>
            <a:off x="10014234" y="3695273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6" name="Shape 44"/>
          <p:cNvSpPr/>
          <p:nvPr/>
        </p:nvSpPr>
        <p:spPr>
          <a:xfrm>
            <a:off x="10153223" y="3695273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7" name="Shape 45"/>
          <p:cNvSpPr/>
          <p:nvPr/>
        </p:nvSpPr>
        <p:spPr>
          <a:xfrm>
            <a:off x="9597268" y="3834262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8" name="Shape 46"/>
          <p:cNvSpPr/>
          <p:nvPr/>
        </p:nvSpPr>
        <p:spPr>
          <a:xfrm>
            <a:off x="9597268" y="3973251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9" name="Shape 47"/>
          <p:cNvSpPr/>
          <p:nvPr/>
        </p:nvSpPr>
        <p:spPr>
          <a:xfrm>
            <a:off x="9736257" y="3973251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0" name="Shape 48"/>
          <p:cNvSpPr/>
          <p:nvPr/>
        </p:nvSpPr>
        <p:spPr>
          <a:xfrm>
            <a:off x="9736257" y="4112240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1" name="Shape 49"/>
          <p:cNvSpPr/>
          <p:nvPr/>
        </p:nvSpPr>
        <p:spPr>
          <a:xfrm>
            <a:off x="10014234" y="4112240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2" name="Shape 50"/>
          <p:cNvSpPr/>
          <p:nvPr/>
        </p:nvSpPr>
        <p:spPr>
          <a:xfrm>
            <a:off x="10153223" y="4112240"/>
            <a:ext cx="111191" cy="111191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3" name="Shape 51"/>
          <p:cNvSpPr/>
          <p:nvPr/>
        </p:nvSpPr>
        <p:spPr>
          <a:xfrm>
            <a:off x="7955280" y="4480560"/>
            <a:ext cx="3395167" cy="384048"/>
          </a:xfrm>
          <a:prstGeom prst="roundRect">
            <a:avLst>
              <a:gd name="adj" fmla="val 50000"/>
            </a:avLst>
          </a:prstGeom>
          <a:solidFill>
            <a:srgbClr val="12274A"/>
          </a:solidFill>
          <a:ln/>
        </p:spPr>
      </p:sp>
      <p:sp>
        <p:nvSpPr>
          <p:cNvPr id="54" name="Text 52"/>
          <p:cNvSpPr/>
          <p:nvPr/>
        </p:nvSpPr>
        <p:spPr>
          <a:xfrm>
            <a:off x="7955280" y="4480560"/>
            <a:ext cx="339516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http://10.0.34.23:3000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TO KNOW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Tips &amp; troubleshooting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50306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221992"/>
            <a:ext cx="310896" cy="310896"/>
          </a:xfrm>
          <a:prstGeom prst="ellipse">
            <a:avLst/>
          </a:prstGeom>
          <a:solidFill>
            <a:srgbClr val="E8F0FF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" y="2313432"/>
            <a:ext cx="128016" cy="128016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7" name="Text 5"/>
          <p:cNvSpPr/>
          <p:nvPr/>
        </p:nvSpPr>
        <p:spPr>
          <a:xfrm>
            <a:off x="1225296" y="2185416"/>
            <a:ext cx="2680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it awake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79192"/>
            <a:ext cx="30001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Stop the laptop from sleeping; stay on the same Wi-Fi.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4314" y="1965960"/>
            <a:ext cx="350306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914" y="2221992"/>
            <a:ext cx="310896" cy="310896"/>
          </a:xfrm>
          <a:prstGeom prst="ellipse">
            <a:avLst/>
          </a:prstGeom>
          <a:solidFill>
            <a:srgbClr val="E8F0FF"/>
          </a:solidFill>
          <a:ln/>
        </p:spPr>
      </p:sp>
      <p:sp>
        <p:nvSpPr>
          <p:cNvPr id="11" name="Shape 9"/>
          <p:cNvSpPr/>
          <p:nvPr/>
        </p:nvSpPr>
        <p:spPr>
          <a:xfrm>
            <a:off x="4664354" y="2313432"/>
            <a:ext cx="128016" cy="128016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02682" y="2185416"/>
            <a:ext cx="2680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can’t connect?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00346" y="2679192"/>
            <a:ext cx="30001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Re-check the firewall — allow Node on Private networks.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1701" y="1965960"/>
            <a:ext cx="350306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0301" y="2221992"/>
            <a:ext cx="310896" cy="310896"/>
          </a:xfrm>
          <a:prstGeom prst="ellipse">
            <a:avLst/>
          </a:prstGeom>
          <a:solidFill>
            <a:srgbClr val="E8F0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441741" y="2313432"/>
            <a:ext cx="128016" cy="128016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17" name="Text 15"/>
          <p:cNvSpPr/>
          <p:nvPr/>
        </p:nvSpPr>
        <p:spPr>
          <a:xfrm>
            <a:off x="8780069" y="2185416"/>
            <a:ext cx="2680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 up your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77733" y="2679192"/>
            <a:ext cx="30001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data.json to keep a record of all vouchers.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40480"/>
            <a:ext cx="350306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5528" y="4096512"/>
            <a:ext cx="310896" cy="310896"/>
          </a:xfrm>
          <a:prstGeom prst="ellipse">
            <a:avLst/>
          </a:prstGeom>
          <a:solidFill>
            <a:srgbClr val="E8F0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86968" y="4187952"/>
            <a:ext cx="128016" cy="128016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22" name="Text 20"/>
          <p:cNvSpPr/>
          <p:nvPr/>
        </p:nvSpPr>
        <p:spPr>
          <a:xfrm>
            <a:off x="1225296" y="4059936"/>
            <a:ext cx="2680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fresh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4553712"/>
            <a:ext cx="30001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npm run reset (or delete data.json) to clear &amp; re-seed.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4314" y="3840480"/>
            <a:ext cx="350306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914" y="4096512"/>
            <a:ext cx="310896" cy="310896"/>
          </a:xfrm>
          <a:prstGeom prst="ellipse">
            <a:avLst/>
          </a:prstGeom>
          <a:solidFill>
            <a:srgbClr val="E8F0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4354" y="4187952"/>
            <a:ext cx="128016" cy="128016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02682" y="4059936"/>
            <a:ext cx="2680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the admin key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00346" y="4553712"/>
            <a:ext cx="30001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ADMIN_KEY before starting the server.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21701" y="3840480"/>
            <a:ext cx="3503066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50301" y="4096512"/>
            <a:ext cx="310896" cy="310896"/>
          </a:xfrm>
          <a:prstGeom prst="ellipse">
            <a:avLst/>
          </a:prstGeom>
          <a:solidFill>
            <a:srgbClr val="E8F0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441741" y="4187952"/>
            <a:ext cx="128016" cy="128016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32" name="Text 30"/>
          <p:cNvSpPr/>
          <p:nvPr/>
        </p:nvSpPr>
        <p:spPr>
          <a:xfrm>
            <a:off x="8780069" y="4059936"/>
            <a:ext cx="2680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the port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77733" y="4553712"/>
            <a:ext cx="30001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PORT (the default is 3000).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6BE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Media Clients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8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it on your phone in under a minute.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928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43E3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FF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the Wi-Fi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79776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43E30"/>
          </a:solidFill>
          <a:ln/>
        </p:spPr>
      </p:sp>
      <p:sp>
        <p:nvSpPr>
          <p:cNvPr id="10" name="Text 8"/>
          <p:cNvSpPr/>
          <p:nvPr/>
        </p:nvSpPr>
        <p:spPr>
          <a:xfrm>
            <a:off x="2944368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44368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FF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link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92624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43E30"/>
          </a:solidFill>
          <a:ln/>
        </p:spPr>
      </p:sp>
      <p:sp>
        <p:nvSpPr>
          <p:cNvPr id="13" name="Text 11"/>
          <p:cNvSpPr/>
          <p:nvPr/>
        </p:nvSpPr>
        <p:spPr>
          <a:xfrm>
            <a:off x="5157216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157216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FF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to Home Screen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05472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43E30"/>
          </a:solidFill>
          <a:ln/>
        </p:spPr>
      </p:sp>
      <p:sp>
        <p:nvSpPr>
          <p:cNvPr id="16" name="Text 14"/>
          <p:cNvSpPr/>
          <p:nvPr/>
        </p:nvSpPr>
        <p:spPr>
          <a:xfrm>
            <a:off x="7370064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70064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FF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a voucher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418320" y="4114800"/>
            <a:ext cx="2057400" cy="868680"/>
          </a:xfrm>
          <a:prstGeom prst="roundRect">
            <a:avLst>
              <a:gd name="adj" fmla="val 12632"/>
            </a:avLst>
          </a:prstGeom>
          <a:solidFill>
            <a:srgbClr val="143E30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912" y="42245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582912" y="42062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DFF3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the hub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548640" cy="54864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5669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to the event Wi-Fi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of 5  ·  Media Clients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201168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the same Wi-Fi network as the media desk.</a:t>
            </a:r>
            <a:endParaRPr lang="en-US" sz="150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the media desk for the network name if needed.</a:t>
            </a:r>
            <a:endParaRPr lang="en-US" sz="1500" dirty="0"/>
          </a:p>
          <a:p>
            <a:pPr algn="l"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mobile data required — everything runs locally at the venue.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4297680"/>
            <a:ext cx="5029200" cy="457200"/>
          </a:xfrm>
          <a:prstGeom prst="roundRect">
            <a:avLst>
              <a:gd name="adj" fmla="val 50000"/>
            </a:avLst>
          </a:prstGeom>
          <a:solidFill>
            <a:srgbClr val="E2F6EE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Wi-Fi as the laptop = you’re good to go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778240" y="1554480"/>
            <a:ext cx="2194560" cy="4114800"/>
          </a:xfrm>
          <a:prstGeom prst="roundRect">
            <a:avLst>
              <a:gd name="adj" fmla="val 9167"/>
            </a:avLst>
          </a:prstGeom>
          <a:solidFill>
            <a:srgbClr val="0B1A33"/>
          </a:solidFill>
          <a:ln/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869680" y="1645920"/>
            <a:ext cx="2011680" cy="3931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8924544" y="1700784"/>
            <a:ext cx="1901952" cy="457200"/>
          </a:xfrm>
          <a:prstGeom prst="roundRect">
            <a:avLst>
              <a:gd name="adj" fmla="val 20000"/>
            </a:avLst>
          </a:prstGeom>
          <a:solidFill>
            <a:srgbClr val="12274A"/>
          </a:solidFill>
          <a:ln/>
        </p:spPr>
      </p:sp>
      <p:sp>
        <p:nvSpPr>
          <p:cNvPr id="12" name="Text 10"/>
          <p:cNvSpPr/>
          <p:nvPr/>
        </p:nvSpPr>
        <p:spPr>
          <a:xfrm>
            <a:off x="9052560" y="17007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Wi-Fi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34272" y="2377440"/>
            <a:ext cx="1682496" cy="640080"/>
          </a:xfrm>
          <a:prstGeom prst="roundRect">
            <a:avLst>
              <a:gd name="adj" fmla="val 14286"/>
            </a:avLst>
          </a:prstGeom>
          <a:solidFill>
            <a:srgbClr val="E2F6EE"/>
          </a:solidFill>
          <a:ln/>
        </p:spPr>
      </p:sp>
      <p:sp>
        <p:nvSpPr>
          <p:cNvPr id="14" name="Text 12"/>
          <p:cNvSpPr/>
          <p:nvPr/>
        </p:nvSpPr>
        <p:spPr>
          <a:xfrm>
            <a:off x="9162288" y="23774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AFC-Media-WiFi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332720" y="2606040"/>
            <a:ext cx="256032" cy="256032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6" name="Text 14"/>
          <p:cNvSpPr/>
          <p:nvPr/>
        </p:nvSpPr>
        <p:spPr>
          <a:xfrm>
            <a:off x="9162288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034272" y="3611880"/>
            <a:ext cx="1682496" cy="237744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/>
        </p:spPr>
      </p:sp>
      <p:sp>
        <p:nvSpPr>
          <p:cNvPr id="18" name="Shape 16"/>
          <p:cNvSpPr/>
          <p:nvPr/>
        </p:nvSpPr>
        <p:spPr>
          <a:xfrm>
            <a:off x="9034272" y="4023360"/>
            <a:ext cx="1682496" cy="237744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/>
        </p:spPr>
      </p:sp>
      <p:sp>
        <p:nvSpPr>
          <p:cNvPr id="19" name="Shape 17"/>
          <p:cNvSpPr/>
          <p:nvPr/>
        </p:nvSpPr>
        <p:spPr>
          <a:xfrm>
            <a:off x="9034272" y="4434840"/>
            <a:ext cx="1682496" cy="237744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548640" cy="54864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5669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Media Hub link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of 5  ·  Media Clients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1883664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your browser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Safari (iPhone) or Chrome (Android).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88036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" y="2843784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the address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one on the media-desk poster, e.g.  http://10.0.34.23:3000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384048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" y="3803904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scan the QR code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your camera at the poster — tap the link.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7772400" y="1828800"/>
            <a:ext cx="3852367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0" y="2057400"/>
            <a:ext cx="385236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to open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921344" y="2514600"/>
            <a:ext cx="1554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07881" y="2701138"/>
            <a:ext cx="330793" cy="330793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19" name="Shape 17"/>
          <p:cNvSpPr/>
          <p:nvPr/>
        </p:nvSpPr>
        <p:spPr>
          <a:xfrm>
            <a:off x="9180656" y="2773912"/>
            <a:ext cx="185244" cy="1852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226967" y="2820223"/>
            <a:ext cx="92622" cy="92622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1" name="Shape 19"/>
          <p:cNvSpPr/>
          <p:nvPr/>
        </p:nvSpPr>
        <p:spPr>
          <a:xfrm>
            <a:off x="9958493" y="2701138"/>
            <a:ext cx="330793" cy="330793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2" name="Shape 20"/>
          <p:cNvSpPr/>
          <p:nvPr/>
        </p:nvSpPr>
        <p:spPr>
          <a:xfrm>
            <a:off x="10031267" y="2773912"/>
            <a:ext cx="185244" cy="1852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77578" y="2820223"/>
            <a:ext cx="92622" cy="92622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4" name="Shape 22"/>
          <p:cNvSpPr/>
          <p:nvPr/>
        </p:nvSpPr>
        <p:spPr>
          <a:xfrm>
            <a:off x="9107881" y="3551749"/>
            <a:ext cx="330793" cy="330793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5" name="Shape 23"/>
          <p:cNvSpPr/>
          <p:nvPr/>
        </p:nvSpPr>
        <p:spPr>
          <a:xfrm>
            <a:off x="9180656" y="3624524"/>
            <a:ext cx="185244" cy="1852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226967" y="3670835"/>
            <a:ext cx="92622" cy="92622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7" name="Shape 25"/>
          <p:cNvSpPr/>
          <p:nvPr/>
        </p:nvSpPr>
        <p:spPr>
          <a:xfrm>
            <a:off x="9646077" y="2714264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8" name="Shape 26"/>
          <p:cNvSpPr/>
          <p:nvPr/>
        </p:nvSpPr>
        <p:spPr>
          <a:xfrm>
            <a:off x="9514810" y="2845532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29" name="Shape 27"/>
          <p:cNvSpPr/>
          <p:nvPr/>
        </p:nvSpPr>
        <p:spPr>
          <a:xfrm>
            <a:off x="9646077" y="2845532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0" name="Shape 28"/>
          <p:cNvSpPr/>
          <p:nvPr/>
        </p:nvSpPr>
        <p:spPr>
          <a:xfrm>
            <a:off x="9646077" y="2976799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1" name="Shape 29"/>
          <p:cNvSpPr/>
          <p:nvPr/>
        </p:nvSpPr>
        <p:spPr>
          <a:xfrm>
            <a:off x="9252275" y="3108066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2" name="Shape 30"/>
          <p:cNvSpPr/>
          <p:nvPr/>
        </p:nvSpPr>
        <p:spPr>
          <a:xfrm>
            <a:off x="9646077" y="3108066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39878" y="3108066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4" name="Shape 32"/>
          <p:cNvSpPr/>
          <p:nvPr/>
        </p:nvSpPr>
        <p:spPr>
          <a:xfrm>
            <a:off x="9252275" y="3239333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5" name="Shape 33"/>
          <p:cNvSpPr/>
          <p:nvPr/>
        </p:nvSpPr>
        <p:spPr>
          <a:xfrm>
            <a:off x="9383542" y="3239333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6" name="Shape 34"/>
          <p:cNvSpPr/>
          <p:nvPr/>
        </p:nvSpPr>
        <p:spPr>
          <a:xfrm>
            <a:off x="9777344" y="3239333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7" name="Shape 35"/>
          <p:cNvSpPr/>
          <p:nvPr/>
        </p:nvSpPr>
        <p:spPr>
          <a:xfrm>
            <a:off x="9908611" y="3239333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8" name="Shape 36"/>
          <p:cNvSpPr/>
          <p:nvPr/>
        </p:nvSpPr>
        <p:spPr>
          <a:xfrm>
            <a:off x="10039878" y="3239333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39" name="Shape 37"/>
          <p:cNvSpPr/>
          <p:nvPr/>
        </p:nvSpPr>
        <p:spPr>
          <a:xfrm>
            <a:off x="9121008" y="3370600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40" name="Shape 38"/>
          <p:cNvSpPr/>
          <p:nvPr/>
        </p:nvSpPr>
        <p:spPr>
          <a:xfrm>
            <a:off x="9252275" y="3370600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41" name="Shape 39"/>
          <p:cNvSpPr/>
          <p:nvPr/>
        </p:nvSpPr>
        <p:spPr>
          <a:xfrm>
            <a:off x="9383542" y="3370600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42" name="Shape 40"/>
          <p:cNvSpPr/>
          <p:nvPr/>
        </p:nvSpPr>
        <p:spPr>
          <a:xfrm>
            <a:off x="9514810" y="3370600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43" name="Shape 41"/>
          <p:cNvSpPr/>
          <p:nvPr/>
        </p:nvSpPr>
        <p:spPr>
          <a:xfrm>
            <a:off x="9646077" y="3370600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44" name="Shape 42"/>
          <p:cNvSpPr/>
          <p:nvPr/>
        </p:nvSpPr>
        <p:spPr>
          <a:xfrm>
            <a:off x="10039878" y="3370600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71146" y="3370600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46" name="Shape 44"/>
          <p:cNvSpPr/>
          <p:nvPr/>
        </p:nvSpPr>
        <p:spPr>
          <a:xfrm>
            <a:off x="9646077" y="3501868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47" name="Shape 45"/>
          <p:cNvSpPr/>
          <p:nvPr/>
        </p:nvSpPr>
        <p:spPr>
          <a:xfrm>
            <a:off x="9646077" y="3633135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48" name="Shape 46"/>
          <p:cNvSpPr/>
          <p:nvPr/>
        </p:nvSpPr>
        <p:spPr>
          <a:xfrm>
            <a:off x="9777344" y="3633135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49" name="Shape 47"/>
          <p:cNvSpPr/>
          <p:nvPr/>
        </p:nvSpPr>
        <p:spPr>
          <a:xfrm>
            <a:off x="9777344" y="3764402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50" name="Shape 48"/>
          <p:cNvSpPr/>
          <p:nvPr/>
        </p:nvSpPr>
        <p:spPr>
          <a:xfrm>
            <a:off x="10039878" y="3764402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51" name="Shape 49"/>
          <p:cNvSpPr/>
          <p:nvPr/>
        </p:nvSpPr>
        <p:spPr>
          <a:xfrm>
            <a:off x="10171146" y="3764402"/>
            <a:ext cx="105014" cy="105014"/>
          </a:xfrm>
          <a:prstGeom prst="rect">
            <a:avLst/>
          </a:prstGeom>
          <a:solidFill>
            <a:srgbClr val="0E9F6E"/>
          </a:solidFill>
          <a:ln/>
        </p:spPr>
      </p:sp>
      <p:sp>
        <p:nvSpPr>
          <p:cNvPr id="52" name="Shape 50"/>
          <p:cNvSpPr/>
          <p:nvPr/>
        </p:nvSpPr>
        <p:spPr>
          <a:xfrm>
            <a:off x="8046720" y="4343400"/>
            <a:ext cx="3303727" cy="384048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53" name="Text 51"/>
          <p:cNvSpPr/>
          <p:nvPr/>
        </p:nvSpPr>
        <p:spPr>
          <a:xfrm>
            <a:off x="8046720" y="4343400"/>
            <a:ext cx="33037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http://10.0.34.23:3000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548640" cy="54864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56692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it to your home screen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of 5  ·  Media Clients  ·  it then opens like an app, full-screen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87452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2130552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0F1A2E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21305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iPhone — Safari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86968" y="278892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35608" y="27523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the Share button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square with an up-arrow.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86968" y="347472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35608" y="34381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“Add to Home Screen”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Scroll the share sheet to find it.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86968" y="416052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35608" y="41239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“Add”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icon appears on your home screen.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681728" y="2788920"/>
            <a:ext cx="960120" cy="1920240"/>
          </a:xfrm>
          <a:prstGeom prst="roundRect">
            <a:avLst>
              <a:gd name="adj" fmla="val 20952"/>
            </a:avLst>
          </a:prstGeom>
          <a:solidFill>
            <a:srgbClr val="0B1A33"/>
          </a:solidFill>
          <a:ln/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73168" y="2880360"/>
            <a:ext cx="777240" cy="173736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3188" y="324612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E9F6E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37490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Hub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275527" y="187452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49847" y="2130552"/>
            <a:ext cx="2286000" cy="411480"/>
          </a:xfrm>
          <a:prstGeom prst="roundRect">
            <a:avLst>
              <a:gd name="adj" fmla="val 50000"/>
            </a:avLst>
          </a:prstGeom>
          <a:solidFill>
            <a:srgbClr val="0F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6549847" y="21305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 — Chrome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95567" y="278892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26" name="Text 24"/>
          <p:cNvSpPr/>
          <p:nvPr/>
        </p:nvSpPr>
        <p:spPr>
          <a:xfrm>
            <a:off x="6595567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44207" y="27523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the ⋮ menu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Top-right of Chrome.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595567" y="347472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29" name="Text 27"/>
          <p:cNvSpPr/>
          <p:nvPr/>
        </p:nvSpPr>
        <p:spPr>
          <a:xfrm>
            <a:off x="6595567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144207" y="34381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“Add to Home screen”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“Install app”.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595567" y="416052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2" name="Text 30"/>
          <p:cNvSpPr/>
          <p:nvPr/>
        </p:nvSpPr>
        <p:spPr>
          <a:xfrm>
            <a:off x="6595567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44207" y="4123944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“Add” / “Install”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icon appears in your app drawer.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10390327" y="2788920"/>
            <a:ext cx="960120" cy="1920240"/>
          </a:xfrm>
          <a:prstGeom prst="roundRect">
            <a:avLst>
              <a:gd name="adj" fmla="val 20952"/>
            </a:avLst>
          </a:prstGeom>
          <a:solidFill>
            <a:srgbClr val="0B1A33"/>
          </a:solidFill>
          <a:ln/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481767" y="2880360"/>
            <a:ext cx="777240" cy="1737360"/>
          </a:xfrm>
          <a:prstGeom prst="roundRect">
            <a:avLst>
              <a:gd name="adj" fmla="val 18824"/>
            </a:avLst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641787" y="324612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0E9F6E"/>
          </a:solidFill>
          <a:ln/>
        </p:spPr>
      </p:sp>
      <p:sp>
        <p:nvSpPr>
          <p:cNvPr id="37" name="Text 35"/>
          <p:cNvSpPr/>
          <p:nvPr/>
        </p:nvSpPr>
        <p:spPr>
          <a:xfrm>
            <a:off x="10481767" y="37490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Hub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548640" cy="54864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56692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a meal voucher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1170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 of 5  ·  Media Clients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5568" y="1883664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your email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time only: add your accreditation number — it’s linked for next time.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92608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5568" y="2889504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Pick location &amp; meal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venue, then Lunch / Dinner (or the stadium meal).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66928" y="393192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15568" y="3895344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“Generate Voucher”
</a:t>
            </a:r>
            <a:endParaRPr lang="en-US" sz="14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the QR ticket at the counter.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498348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E2F6EE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983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Returning? Just your email — no need to re-enter accreditation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0" y="1463040"/>
            <a:ext cx="2286000" cy="4297680"/>
          </a:xfrm>
          <a:prstGeom prst="roundRect">
            <a:avLst>
              <a:gd name="adj" fmla="val 8800"/>
            </a:avLst>
          </a:prstGeom>
          <a:solidFill>
            <a:srgbClr val="0B1A33"/>
          </a:solidFill>
          <a:ln/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778240" y="1554480"/>
            <a:ext cx="2103120" cy="41148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887968" y="1691640"/>
            <a:ext cx="1883664" cy="777240"/>
          </a:xfrm>
          <a:prstGeom prst="roundRect">
            <a:avLst>
              <a:gd name="adj" fmla="val 11765"/>
            </a:avLst>
          </a:prstGeom>
          <a:solidFill>
            <a:srgbClr val="12274A"/>
          </a:solidFill>
          <a:ln/>
        </p:spPr>
      </p:sp>
      <p:sp>
        <p:nvSpPr>
          <p:cNvPr id="20" name="Text 18"/>
          <p:cNvSpPr/>
          <p:nvPr/>
        </p:nvSpPr>
        <p:spPr>
          <a:xfrm>
            <a:off x="9034272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MMC · LUNCH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012680" y="1847088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1C3A6B"/>
          </a:solidFill>
          <a:ln/>
        </p:spPr>
      </p:sp>
      <p:sp>
        <p:nvSpPr>
          <p:cNvPr id="22" name="Text 20"/>
          <p:cNvSpPr/>
          <p:nvPr/>
        </p:nvSpPr>
        <p:spPr>
          <a:xfrm>
            <a:off x="10012680" y="1847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034272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Voucher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89720" y="2651760"/>
            <a:ext cx="1280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43339" y="2805379"/>
            <a:ext cx="272418" cy="272418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26" name="Shape 24"/>
          <p:cNvSpPr/>
          <p:nvPr/>
        </p:nvSpPr>
        <p:spPr>
          <a:xfrm>
            <a:off x="9403271" y="2865311"/>
            <a:ext cx="152554" cy="1525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9441410" y="2903450"/>
            <a:ext cx="76277" cy="76277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043843" y="2805379"/>
            <a:ext cx="272418" cy="272418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103775" y="2865311"/>
            <a:ext cx="152554" cy="1525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141913" y="2903450"/>
            <a:ext cx="76277" cy="76277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1" name="Shape 29"/>
          <p:cNvSpPr/>
          <p:nvPr/>
        </p:nvSpPr>
        <p:spPr>
          <a:xfrm>
            <a:off x="9343339" y="3505883"/>
            <a:ext cx="272418" cy="272418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2" name="Shape 30"/>
          <p:cNvSpPr/>
          <p:nvPr/>
        </p:nvSpPr>
        <p:spPr>
          <a:xfrm>
            <a:off x="9403271" y="3565815"/>
            <a:ext cx="152554" cy="1525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9441410" y="3603953"/>
            <a:ext cx="76277" cy="76277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4" name="Shape 32"/>
          <p:cNvSpPr/>
          <p:nvPr/>
        </p:nvSpPr>
        <p:spPr>
          <a:xfrm>
            <a:off x="9786559" y="2816189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5" name="Shape 33"/>
          <p:cNvSpPr/>
          <p:nvPr/>
        </p:nvSpPr>
        <p:spPr>
          <a:xfrm>
            <a:off x="9678457" y="2924292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6" name="Shape 34"/>
          <p:cNvSpPr/>
          <p:nvPr/>
        </p:nvSpPr>
        <p:spPr>
          <a:xfrm>
            <a:off x="9786559" y="2924292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7" name="Shape 35"/>
          <p:cNvSpPr/>
          <p:nvPr/>
        </p:nvSpPr>
        <p:spPr>
          <a:xfrm>
            <a:off x="9786559" y="3032394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8" name="Shape 36"/>
          <p:cNvSpPr/>
          <p:nvPr/>
        </p:nvSpPr>
        <p:spPr>
          <a:xfrm>
            <a:off x="9462252" y="3140497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39" name="Shape 37"/>
          <p:cNvSpPr/>
          <p:nvPr/>
        </p:nvSpPr>
        <p:spPr>
          <a:xfrm>
            <a:off x="9786559" y="3140497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110866" y="3140497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1" name="Shape 39"/>
          <p:cNvSpPr/>
          <p:nvPr/>
        </p:nvSpPr>
        <p:spPr>
          <a:xfrm>
            <a:off x="9462252" y="3248599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2" name="Shape 40"/>
          <p:cNvSpPr/>
          <p:nvPr/>
        </p:nvSpPr>
        <p:spPr>
          <a:xfrm>
            <a:off x="9570354" y="3248599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3" name="Shape 41"/>
          <p:cNvSpPr/>
          <p:nvPr/>
        </p:nvSpPr>
        <p:spPr>
          <a:xfrm>
            <a:off x="9894661" y="3248599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4" name="Shape 42"/>
          <p:cNvSpPr/>
          <p:nvPr/>
        </p:nvSpPr>
        <p:spPr>
          <a:xfrm>
            <a:off x="10002764" y="3248599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10866" y="3248599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6" name="Shape 44"/>
          <p:cNvSpPr/>
          <p:nvPr/>
        </p:nvSpPr>
        <p:spPr>
          <a:xfrm>
            <a:off x="9354149" y="3356701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7" name="Shape 45"/>
          <p:cNvSpPr/>
          <p:nvPr/>
        </p:nvSpPr>
        <p:spPr>
          <a:xfrm>
            <a:off x="9462252" y="3356701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8" name="Shape 46"/>
          <p:cNvSpPr/>
          <p:nvPr/>
        </p:nvSpPr>
        <p:spPr>
          <a:xfrm>
            <a:off x="9570354" y="3356701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49" name="Shape 47"/>
          <p:cNvSpPr/>
          <p:nvPr/>
        </p:nvSpPr>
        <p:spPr>
          <a:xfrm>
            <a:off x="9678457" y="3356701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0" name="Shape 48"/>
          <p:cNvSpPr/>
          <p:nvPr/>
        </p:nvSpPr>
        <p:spPr>
          <a:xfrm>
            <a:off x="9786559" y="3356701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1" name="Shape 49"/>
          <p:cNvSpPr/>
          <p:nvPr/>
        </p:nvSpPr>
        <p:spPr>
          <a:xfrm>
            <a:off x="10110866" y="3356701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2" name="Shape 50"/>
          <p:cNvSpPr/>
          <p:nvPr/>
        </p:nvSpPr>
        <p:spPr>
          <a:xfrm>
            <a:off x="10218969" y="3356701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3" name="Shape 51"/>
          <p:cNvSpPr/>
          <p:nvPr/>
        </p:nvSpPr>
        <p:spPr>
          <a:xfrm>
            <a:off x="9786559" y="3464804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4" name="Shape 52"/>
          <p:cNvSpPr/>
          <p:nvPr/>
        </p:nvSpPr>
        <p:spPr>
          <a:xfrm>
            <a:off x="9786559" y="3572906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5" name="Shape 53"/>
          <p:cNvSpPr/>
          <p:nvPr/>
        </p:nvSpPr>
        <p:spPr>
          <a:xfrm>
            <a:off x="9894661" y="3572906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6" name="Shape 54"/>
          <p:cNvSpPr/>
          <p:nvPr/>
        </p:nvSpPr>
        <p:spPr>
          <a:xfrm>
            <a:off x="9894661" y="3681009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7" name="Shape 55"/>
          <p:cNvSpPr/>
          <p:nvPr/>
        </p:nvSpPr>
        <p:spPr>
          <a:xfrm>
            <a:off x="10110866" y="3681009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8" name="Shape 56"/>
          <p:cNvSpPr/>
          <p:nvPr/>
        </p:nvSpPr>
        <p:spPr>
          <a:xfrm>
            <a:off x="10218969" y="3681009"/>
            <a:ext cx="86482" cy="86482"/>
          </a:xfrm>
          <a:prstGeom prst="rect">
            <a:avLst/>
          </a:prstGeom>
          <a:solidFill>
            <a:srgbClr val="12274A"/>
          </a:solidFill>
          <a:ln/>
        </p:spPr>
      </p:sp>
      <p:sp>
        <p:nvSpPr>
          <p:cNvPr id="59" name="Text 57"/>
          <p:cNvSpPr/>
          <p:nvPr/>
        </p:nvSpPr>
        <p:spPr>
          <a:xfrm>
            <a:off x="8961120" y="40690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MV-3LWU13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098280" y="4434840"/>
            <a:ext cx="1463040" cy="18288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/>
        </p:spPr>
      </p:sp>
      <p:sp>
        <p:nvSpPr>
          <p:cNvPr id="61" name="Shape 59"/>
          <p:cNvSpPr/>
          <p:nvPr/>
        </p:nvSpPr>
        <p:spPr>
          <a:xfrm>
            <a:off x="9098280" y="4727448"/>
            <a:ext cx="1463040" cy="18288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/>
        </p:spPr>
      </p:sp>
      <p:sp>
        <p:nvSpPr>
          <p:cNvPr id="62" name="Shape 60"/>
          <p:cNvSpPr/>
          <p:nvPr/>
        </p:nvSpPr>
        <p:spPr>
          <a:xfrm>
            <a:off x="8833104" y="5212080"/>
            <a:ext cx="1993392" cy="384048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63" name="Shape 61"/>
          <p:cNvSpPr/>
          <p:nvPr/>
        </p:nvSpPr>
        <p:spPr>
          <a:xfrm>
            <a:off x="9036558" y="5276088"/>
            <a:ext cx="91440" cy="9144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64" name="Text 62"/>
          <p:cNvSpPr/>
          <p:nvPr/>
        </p:nvSpPr>
        <p:spPr>
          <a:xfrm>
            <a:off x="8833104" y="5376672"/>
            <a:ext cx="4983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Voucher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9534906" y="5276088"/>
            <a:ext cx="91440" cy="91440"/>
          </a:xfrm>
          <a:prstGeom prst="ellipse">
            <a:avLst/>
          </a:prstGeom>
          <a:solidFill>
            <a:srgbClr val="8A96A8"/>
          </a:solidFill>
          <a:ln/>
        </p:spPr>
      </p:sp>
      <p:sp>
        <p:nvSpPr>
          <p:cNvPr id="66" name="Text 64"/>
          <p:cNvSpPr/>
          <p:nvPr/>
        </p:nvSpPr>
        <p:spPr>
          <a:xfrm>
            <a:off x="9331452" y="5376672"/>
            <a:ext cx="4983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10033254" y="5276088"/>
            <a:ext cx="91440" cy="91440"/>
          </a:xfrm>
          <a:prstGeom prst="ellipse">
            <a:avLst/>
          </a:prstGeom>
          <a:solidFill>
            <a:srgbClr val="8A96A8"/>
          </a:solidFill>
          <a:ln/>
        </p:spPr>
      </p:sp>
      <p:sp>
        <p:nvSpPr>
          <p:cNvPr id="68" name="Text 66"/>
          <p:cNvSpPr/>
          <p:nvPr/>
        </p:nvSpPr>
        <p:spPr>
          <a:xfrm>
            <a:off x="9829800" y="5376672"/>
            <a:ext cx="4983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News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10531602" y="5276088"/>
            <a:ext cx="91440" cy="91440"/>
          </a:xfrm>
          <a:prstGeom prst="ellipse">
            <a:avLst/>
          </a:prstGeom>
          <a:solidFill>
            <a:srgbClr val="8A96A8"/>
          </a:solidFill>
          <a:ln/>
        </p:spPr>
      </p:sp>
      <p:sp>
        <p:nvSpPr>
          <p:cNvPr id="70" name="Text 68"/>
          <p:cNvSpPr/>
          <p:nvPr/>
        </p:nvSpPr>
        <p:spPr>
          <a:xfrm>
            <a:off x="10328148" y="5376672"/>
            <a:ext cx="4983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48640"/>
            <a:ext cx="548640" cy="54864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44168" y="566928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else is one tap away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44168" y="11704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 of 5  ·  Media Clients  ·  use the bottom navigation bar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96596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2240280"/>
            <a:ext cx="384048" cy="384048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16736" y="2194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Voucher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6791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and show your meal vouchers.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53128" y="196596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2240280"/>
            <a:ext cx="384048" cy="384048"/>
          </a:xfrm>
          <a:prstGeom prst="ellipse">
            <a:avLst/>
          </a:prstGeom>
          <a:solidFill>
            <a:srgbClr val="7A2BB8"/>
          </a:solidFill>
          <a:ln/>
        </p:spPr>
      </p:sp>
      <p:sp>
        <p:nvSpPr>
          <p:cNvPr id="13" name="Text 11"/>
          <p:cNvSpPr/>
          <p:nvPr/>
        </p:nvSpPr>
        <p:spPr>
          <a:xfrm>
            <a:off x="4681728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02936" y="2194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 Conferences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26791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with live status badges.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56616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3840480"/>
            <a:ext cx="384048" cy="384048"/>
          </a:xfrm>
          <a:prstGeom prst="ellipse">
            <a:avLst/>
          </a:prstGeom>
          <a:solidFill>
            <a:srgbClr val="B9710A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16736" y="3794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News &amp; Updates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2793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Announcements, alerts and operations.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53128" y="3566160"/>
            <a:ext cx="36118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81728" y="3840480"/>
            <a:ext cx="384048" cy="38404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23" name="Text 21"/>
          <p:cNvSpPr/>
          <p:nvPr/>
        </p:nvSpPr>
        <p:spPr>
          <a:xfrm>
            <a:off x="468172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02936" y="3794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09160" y="42793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Shuttle routes, times and frequencies.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78240" y="1554480"/>
            <a:ext cx="2194560" cy="4114800"/>
          </a:xfrm>
          <a:prstGeom prst="roundRect">
            <a:avLst>
              <a:gd name="adj" fmla="val 9167"/>
            </a:avLst>
          </a:prstGeom>
          <a:solidFill>
            <a:srgbClr val="0B1A33"/>
          </a:solidFill>
          <a:ln/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869680" y="1645920"/>
            <a:ext cx="2011680" cy="393192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924544" y="1700784"/>
            <a:ext cx="1901952" cy="457200"/>
          </a:xfrm>
          <a:prstGeom prst="roundRect">
            <a:avLst>
              <a:gd name="adj" fmla="val 20000"/>
            </a:avLst>
          </a:prstGeom>
          <a:solidFill>
            <a:srgbClr val="12274A"/>
          </a:solidFill>
          <a:ln/>
        </p:spPr>
      </p:sp>
      <p:sp>
        <p:nvSpPr>
          <p:cNvPr id="29" name="Text 27"/>
          <p:cNvSpPr/>
          <p:nvPr/>
        </p:nvSpPr>
        <p:spPr>
          <a:xfrm>
            <a:off x="9052560" y="17007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Hub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052560" y="242316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/>
        </p:spPr>
      </p:sp>
      <p:sp>
        <p:nvSpPr>
          <p:cNvPr id="31" name="Shape 29"/>
          <p:cNvSpPr/>
          <p:nvPr/>
        </p:nvSpPr>
        <p:spPr>
          <a:xfrm>
            <a:off x="9052560" y="297180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/>
        </p:spPr>
      </p:sp>
      <p:sp>
        <p:nvSpPr>
          <p:cNvPr id="32" name="Shape 30"/>
          <p:cNvSpPr/>
          <p:nvPr/>
        </p:nvSpPr>
        <p:spPr>
          <a:xfrm>
            <a:off x="9052560" y="352044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/>
        </p:spPr>
      </p:sp>
      <p:sp>
        <p:nvSpPr>
          <p:cNvPr id="33" name="Shape 31"/>
          <p:cNvSpPr/>
          <p:nvPr/>
        </p:nvSpPr>
        <p:spPr>
          <a:xfrm>
            <a:off x="9052560" y="406908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/>
        </p:spPr>
      </p:sp>
      <p:sp>
        <p:nvSpPr>
          <p:cNvPr id="34" name="Shape 32"/>
          <p:cNvSpPr/>
          <p:nvPr/>
        </p:nvSpPr>
        <p:spPr>
          <a:xfrm>
            <a:off x="8924544" y="5120640"/>
            <a:ext cx="1901952" cy="384048"/>
          </a:xfrm>
          <a:prstGeom prst="rect">
            <a:avLst/>
          </a:prstGeom>
          <a:solidFill>
            <a:srgbClr val="F5F8FC"/>
          </a:solidFill>
          <a:ln/>
        </p:spPr>
      </p:sp>
      <p:sp>
        <p:nvSpPr>
          <p:cNvPr id="35" name="Shape 33"/>
          <p:cNvSpPr/>
          <p:nvPr/>
        </p:nvSpPr>
        <p:spPr>
          <a:xfrm>
            <a:off x="9116568" y="5184648"/>
            <a:ext cx="91440" cy="91440"/>
          </a:xfrm>
          <a:prstGeom prst="ellipse">
            <a:avLst/>
          </a:prstGeom>
          <a:solidFill>
            <a:srgbClr val="8A96A8"/>
          </a:solidFill>
          <a:ln/>
        </p:spPr>
      </p:sp>
      <p:sp>
        <p:nvSpPr>
          <p:cNvPr id="36" name="Text 34"/>
          <p:cNvSpPr/>
          <p:nvPr/>
        </p:nvSpPr>
        <p:spPr>
          <a:xfrm>
            <a:off x="8924544" y="52852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Voucher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9592056" y="5184648"/>
            <a:ext cx="91440" cy="91440"/>
          </a:xfrm>
          <a:prstGeom prst="ellipse">
            <a:avLst/>
          </a:prstGeom>
          <a:solidFill>
            <a:srgbClr val="8A96A8"/>
          </a:solidFill>
          <a:ln/>
        </p:spPr>
      </p:sp>
      <p:sp>
        <p:nvSpPr>
          <p:cNvPr id="38" name="Text 36"/>
          <p:cNvSpPr/>
          <p:nvPr/>
        </p:nvSpPr>
        <p:spPr>
          <a:xfrm>
            <a:off x="9400032" y="52852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0067544" y="5184648"/>
            <a:ext cx="91440" cy="91440"/>
          </a:xfrm>
          <a:prstGeom prst="ellipse">
            <a:avLst/>
          </a:prstGeom>
          <a:solidFill>
            <a:srgbClr val="2F6BFF"/>
          </a:solidFill>
          <a:ln/>
        </p:spPr>
      </p:sp>
      <p:sp>
        <p:nvSpPr>
          <p:cNvPr id="40" name="Text 38"/>
          <p:cNvSpPr/>
          <p:nvPr/>
        </p:nvSpPr>
        <p:spPr>
          <a:xfrm>
            <a:off x="9875520" y="52852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F6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News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0543032" y="5184648"/>
            <a:ext cx="91440" cy="91440"/>
          </a:xfrm>
          <a:prstGeom prst="ellipse">
            <a:avLst/>
          </a:prstGeom>
          <a:solidFill>
            <a:srgbClr val="8A96A8"/>
          </a:solidFill>
          <a:ln/>
        </p:spPr>
      </p:sp>
      <p:sp>
        <p:nvSpPr>
          <p:cNvPr id="42" name="Text 40"/>
          <p:cNvSpPr/>
          <p:nvPr/>
        </p:nvSpPr>
        <p:spPr>
          <a:xfrm>
            <a:off x="10351008" y="528523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Transport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can claim each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53492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8F0FF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920240"/>
            <a:ext cx="5349240" cy="731520"/>
          </a:xfrm>
          <a:prstGeom prst="roundRect">
            <a:avLst>
              <a:gd name="adj" fmla="val 15000"/>
            </a:avLst>
          </a:prstGeom>
          <a:solidFill>
            <a:srgbClr val="2F6BF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286000"/>
            <a:ext cx="5349240" cy="365760"/>
          </a:xfrm>
          <a:prstGeom prst="rect">
            <a:avLst/>
          </a:prstGeom>
          <a:solidFill>
            <a:srgbClr val="2F6BF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202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Centres &amp; Training Sites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29260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1× Lunch  +  1× Dinner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32688" y="37033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may hold both — but not two of the same meal at the same place on the same day.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5527" y="1920240"/>
            <a:ext cx="53492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1E5F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A2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75527" y="1920240"/>
            <a:ext cx="5349240" cy="731520"/>
          </a:xfrm>
          <a:prstGeom prst="roundRect">
            <a:avLst>
              <a:gd name="adj" fmla="val 15000"/>
            </a:avLst>
          </a:prstGeom>
          <a:solidFill>
            <a:srgbClr val="7A2BB8"/>
          </a:solidFill>
          <a:ln/>
        </p:spPr>
      </p:sp>
      <p:sp>
        <p:nvSpPr>
          <p:cNvPr id="12" name="Shape 10"/>
          <p:cNvSpPr/>
          <p:nvPr/>
        </p:nvSpPr>
        <p:spPr>
          <a:xfrm>
            <a:off x="6275527" y="2286000"/>
            <a:ext cx="5349240" cy="365760"/>
          </a:xfrm>
          <a:prstGeom prst="rect">
            <a:avLst/>
          </a:prstGeom>
          <a:solidFill>
            <a:srgbClr val="7A2BB8"/>
          </a:solidFill>
          <a:ln/>
        </p:spPr>
      </p:sp>
      <p:sp>
        <p:nvSpPr>
          <p:cNvPr id="13" name="Text 11"/>
          <p:cNvSpPr/>
          <p:nvPr/>
        </p:nvSpPr>
        <p:spPr>
          <a:xfrm>
            <a:off x="6549847" y="192024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Stadiums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75527" y="29260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1× Meal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641287" y="3703320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meal total per stadium per day — grants access to the venue Media Café.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754880"/>
            <a:ext cx="11057839" cy="640080"/>
          </a:xfrm>
          <a:prstGeom prst="roundRect">
            <a:avLst>
              <a:gd name="adj" fmla="val 17143"/>
            </a:avLst>
          </a:prstGeom>
          <a:solidFill>
            <a:srgbClr val="F5F8FC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4754880"/>
            <a:ext cx="10417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email, per day, enforced centrally. </a:t>
            </a:r>
            <a:pPr algn="ctr" indent="0" marL="0">
              <a:buNone/>
            </a:pPr>
            <a:r>
              <a:rPr lang="en-US" sz="1300" dirty="0">
                <a:solidFill>
                  <a:srgbClr val="5C6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duplicate request shows a friendly “already claimed” message.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6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7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FA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this handy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5349240" cy="2743200"/>
          </a:xfrm>
          <a:prstGeom prst="roundRect">
            <a:avLst>
              <a:gd name="adj" fmla="val 4667"/>
            </a:avLst>
          </a:prstGeom>
          <a:solidFill>
            <a:srgbClr val="17305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359152"/>
            <a:ext cx="2103120" cy="41148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35915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301752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3A4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Start:  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double-click start.bat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3A4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Admin: 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localhost:3000/admin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3A4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Key:    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afc2027-media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3A4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Reset:   </a:t>
            </a:r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reset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5527" y="2103120"/>
            <a:ext cx="5349240" cy="2743200"/>
          </a:xfrm>
          <a:prstGeom prst="roundRect">
            <a:avLst>
              <a:gd name="adj" fmla="val 4667"/>
            </a:avLst>
          </a:prstGeom>
          <a:solidFill>
            <a:srgbClr val="143E30"/>
          </a:solidFill>
          <a:ln/>
        </p:spPr>
      </p:sp>
      <p:sp>
        <p:nvSpPr>
          <p:cNvPr id="9" name="Shape 7"/>
          <p:cNvSpPr/>
          <p:nvPr/>
        </p:nvSpPr>
        <p:spPr>
          <a:xfrm>
            <a:off x="6549847" y="2359152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0" name="Text 8"/>
          <p:cNvSpPr/>
          <p:nvPr/>
        </p:nvSpPr>
        <p:spPr>
          <a:xfrm>
            <a:off x="6549847" y="23591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Clients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41287" y="3017520"/>
            <a:ext cx="4617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C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Open:    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http://&lt;desk-IP&gt;:3000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C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Install:  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 → Add to Home Screen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C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time: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+ accreditation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9CF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Then:      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only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51663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You’re ready — enjoy the tournament.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AFC Asian Cup 2027  ·  Media Hub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10367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4C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 Hub — Setup &amp; Onboarding Guide</dc:title>
  <dc:subject>PptxGenJS Presentation</dc:subject>
  <dc:creator>AFC Asian Cup 2027 Media Operations</dc:creator>
  <cp:lastModifiedBy>AFC Asian Cup 2027 Media Operations</cp:lastModifiedBy>
  <cp:revision>1</cp:revision>
  <dcterms:created xsi:type="dcterms:W3CDTF">2026-06-19T07:09:10Z</dcterms:created>
  <dcterms:modified xsi:type="dcterms:W3CDTF">2026-06-19T07:09:10Z</dcterms:modified>
</cp:coreProperties>
</file>