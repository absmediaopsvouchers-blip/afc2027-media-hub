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A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A2E"/>
                </a:solidFill>
                <a:latin typeface="Arial"/>
              </a:rPr>
              <a:t>Vouchers by meal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Vouchers</c:v>
                </c:pt>
              </c:strCache>
            </c:strRef>
          </c:tx>
          <c:spPr>
            <a:solidFill>
              <a:srgbClr val="2F6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6B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27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2B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Lunch</c:v>
                  </c:pt>
                  <c:pt idx="1">
                    <c:v>Dinner</c:v>
                  </c:pt>
                  <c:pt idx="2">
                    <c:v>Stadium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41</c:v>
                </c:pt>
                <c:pt idx="2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A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1E3A6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6305C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920240"/>
            <a:ext cx="1737360" cy="1737360"/>
          </a:xfrm>
          <a:prstGeom prst="roundRect">
            <a:avLst>
              <a:gd name="adj" fmla="val 22105"/>
            </a:avLst>
          </a:prstGeom>
          <a:solidFill>
            <a:srgbClr val="2F6BFF"/>
          </a:solidFill>
          <a:ln/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36608" y="2377440"/>
            <a:ext cx="60350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628632" y="2542032"/>
            <a:ext cx="219456" cy="21945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7" name="Shape 5"/>
          <p:cNvSpPr/>
          <p:nvPr/>
        </p:nvSpPr>
        <p:spPr>
          <a:xfrm>
            <a:off x="9528048" y="2999232"/>
            <a:ext cx="420624" cy="109728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A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ONBOARDING GUIDE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Admins &amp; Volunteers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66928" y="3017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DB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the Meal Voucher system — AFC Asian Cup 2027 Media Hub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66928" y="39319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Administrators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035808" y="39319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3035808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Volunteers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709160"/>
            <a:ext cx="6766560" cy="566928"/>
          </a:xfrm>
          <a:prstGeom prst="roundRect">
            <a:avLst>
              <a:gd name="adj" fmla="val 19355"/>
            </a:avLst>
          </a:prstGeom>
          <a:solidFill>
            <a:srgbClr val="17305A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7091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E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LOGIN 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afc2027-media-hub.onrender.com/admin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5440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login page for both roles — your key decides what you can do.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 — Staff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roles, two keys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492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F0F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2880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12274A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221992"/>
            <a:ext cx="5349240" cy="384048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288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FD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7889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analytics, counters &amp; CSV export.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Redeem vouchers (same tool as volunteers).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venues, news, press &amp; transport.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the client-app QR; hold both keys.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40965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signs in with the ADMIN key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5527" y="1828800"/>
            <a:ext cx="53492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F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75527" y="182880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0E9F6E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5527" y="2221992"/>
            <a:ext cx="5349240" cy="384048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6549847" y="18288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Volunteer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49847" y="18288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8F3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buffet counter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95567" y="27889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job: scan &amp; redeem meal vouchers.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Sees only the Redeemer tab.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server blocks every other admin action.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access to analytics, exports or content.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95567" y="40965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signs in with the VOLUNTEER key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754880"/>
            <a:ext cx="11057839" cy="868680"/>
          </a:xfrm>
          <a:prstGeom prst="roundRect">
            <a:avLst>
              <a:gd name="adj" fmla="val 12632"/>
            </a:avLst>
          </a:prstGeom>
          <a:solidFill>
            <a:srgbClr val="FBEFD9"/>
          </a:solidFill>
          <a:ln w="12700">
            <a:solidFill>
              <a:srgbClr val="F1DC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4754880"/>
            <a:ext cx="104177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71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login page.  </a:t>
            </a:r>
            <a:pPr algn="l" indent="0" marL="0">
              <a:buNone/>
            </a:pPr>
            <a:r>
              <a:rPr lang="en-US" sz="1300" dirty="0">
                <a:solidFill>
                  <a:srgbClr val="7A4E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roles open afc2027-media-hub.onrender.com/admin and enter their key. The scope is enforced by the server, not just hidden in the interface — a volunteer key is rejected on every endpoint except voucher redemption.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 — Staff Onboarding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— same door for everyone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837944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staff login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any phone, tablet or laptop:  afc2027-media-hub.onrender.com/admin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807208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770632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your key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key → full dashboard.  Volunteer key → Redeemer only.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3739896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3703320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signed in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key is remembered for the browser session.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4672584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636008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 when you leave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Lock to sign out — always do this on shared devices.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5223967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1865376"/>
            <a:ext cx="5187391" cy="420624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601968" y="201168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Shape 17"/>
          <p:cNvSpPr/>
          <p:nvPr/>
        </p:nvSpPr>
        <p:spPr>
          <a:xfrm>
            <a:off x="6803136" y="2011680"/>
            <a:ext cx="109728" cy="109728"/>
          </a:xfrm>
          <a:prstGeom prst="ellipse">
            <a:avLst/>
          </a:prstGeom>
          <a:solidFill>
            <a:srgbClr val="F9C23C"/>
          </a:solidFill>
          <a:ln/>
        </p:spPr>
      </p:sp>
      <p:sp>
        <p:nvSpPr>
          <p:cNvPr id="20" name="Shape 18"/>
          <p:cNvSpPr/>
          <p:nvPr/>
        </p:nvSpPr>
        <p:spPr>
          <a:xfrm>
            <a:off x="7004304" y="2011680"/>
            <a:ext cx="109728" cy="109728"/>
          </a:xfrm>
          <a:prstGeom prst="ellipse">
            <a:avLst/>
          </a:prstGeom>
          <a:solidFill>
            <a:srgbClr val="3FBF6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947672"/>
            <a:ext cx="40352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1947672"/>
            <a:ext cx="38523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afc2027-media-hub.onrender.com/admin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784184" y="2615184"/>
            <a:ext cx="548640" cy="548640"/>
          </a:xfrm>
          <a:prstGeom prst="ellipse">
            <a:avLst/>
          </a:prstGeom>
          <a:solidFill>
            <a:srgbClr val="12274A"/>
          </a:solidFill>
          <a:ln/>
        </p:spPr>
      </p:sp>
      <p:sp>
        <p:nvSpPr>
          <p:cNvPr id="24" name="Shape 22"/>
          <p:cNvSpPr/>
          <p:nvPr/>
        </p:nvSpPr>
        <p:spPr>
          <a:xfrm>
            <a:off x="8967064" y="2798064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3255264"/>
            <a:ext cx="51873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access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76288" y="3575304"/>
            <a:ext cx="42729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keys unlock the full dashboard; volunteer keys unlock the voucher redeemer only.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41184" y="4123944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8F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8344" y="41239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• • • • • • • • •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41184" y="4672584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2F6BFF"/>
          </a:solidFill>
          <a:ln/>
        </p:spPr>
      </p:sp>
      <p:sp>
        <p:nvSpPr>
          <p:cNvPr id="30" name="Text 28"/>
          <p:cNvSpPr/>
          <p:nvPr/>
        </p:nvSpPr>
        <p:spPr>
          <a:xfrm>
            <a:off x="7641184" y="46725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Unlock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" y="5715000"/>
            <a:ext cx="6035040" cy="457200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5715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Keys are secrets — never post them in group chats or print them on posters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 — Staff Onboarding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6FA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Administrators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DB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you run: analytics, content, access — from any browser.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7305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&amp; export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79776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7305A"/>
          </a:solidFill>
          <a:ln/>
        </p:spPr>
      </p:sp>
      <p:sp>
        <p:nvSpPr>
          <p:cNvPr id="10" name="Text 8"/>
          <p:cNvSpPr/>
          <p:nvPr/>
        </p:nvSpPr>
        <p:spPr>
          <a:xfrm>
            <a:off x="2944368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44368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content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92624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7305A"/>
          </a:solidFill>
          <a:ln/>
        </p:spPr>
      </p:sp>
      <p:sp>
        <p:nvSpPr>
          <p:cNvPr id="13" name="Text 11"/>
          <p:cNvSpPr/>
          <p:nvPr/>
        </p:nvSpPr>
        <p:spPr>
          <a:xfrm>
            <a:off x="5157216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57216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the QR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05472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7305A"/>
          </a:solidFill>
          <a:ln/>
        </p:spPr>
      </p:sp>
      <p:sp>
        <p:nvSpPr>
          <p:cNvPr id="16" name="Text 14"/>
          <p:cNvSpPr/>
          <p:nvPr/>
        </p:nvSpPr>
        <p:spPr>
          <a:xfrm>
            <a:off x="7370064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70064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the keys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18320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7305A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912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582912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the counter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 — Staff Onboarding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&amp; export in real time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Administrators  ·  the Overview tab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Counters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Issued today, redeemed today, registered media, café meals.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Charts &amp; live feed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Breakdown by meal and venue; vouchers appear as they’re claimed or scanned (auto-refresh every 5 s).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CSV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 downloads the full voucher log — use it for catering reconciliation and backups.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1783080"/>
            <a:ext cx="6412687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30368" y="1819656"/>
            <a:ext cx="6376111" cy="420624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9" name="Shape 7"/>
          <p:cNvSpPr/>
          <p:nvPr/>
        </p:nvSpPr>
        <p:spPr>
          <a:xfrm>
            <a:off x="5413248" y="196596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1965960"/>
            <a:ext cx="109728" cy="109728"/>
          </a:xfrm>
          <a:prstGeom prst="ellipse">
            <a:avLst/>
          </a:prstGeom>
          <a:solidFill>
            <a:srgbClr val="F9C23C"/>
          </a:solidFill>
          <a:ln/>
        </p:spPr>
      </p:sp>
      <p:sp>
        <p:nvSpPr>
          <p:cNvPr id="11" name="Shape 9"/>
          <p:cNvSpPr/>
          <p:nvPr/>
        </p:nvSpPr>
        <p:spPr>
          <a:xfrm>
            <a:off x="5815584" y="1965960"/>
            <a:ext cx="109728" cy="109728"/>
          </a:xfrm>
          <a:prstGeom prst="ellipse">
            <a:avLst/>
          </a:prstGeom>
          <a:solidFill>
            <a:srgbClr val="3FBF6A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901952"/>
            <a:ext cx="522396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901952"/>
            <a:ext cx="50410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afc2027-media-hub.onrender.com/admin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13248" y="2432304"/>
            <a:ext cx="2913736" cy="777240"/>
          </a:xfrm>
          <a:prstGeom prst="roundRect">
            <a:avLst>
              <a:gd name="adj" fmla="val 14118"/>
            </a:avLst>
          </a:prstGeom>
          <a:solidFill>
            <a:srgbClr val="F5F8F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2478024"/>
            <a:ext cx="2547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596128" y="2862072"/>
            <a:ext cx="2547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Issued today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09864" y="2432304"/>
            <a:ext cx="2913736" cy="777240"/>
          </a:xfrm>
          <a:prstGeom prst="roundRect">
            <a:avLst>
              <a:gd name="adj" fmla="val 14118"/>
            </a:avLst>
          </a:prstGeom>
          <a:solidFill>
            <a:srgbClr val="F5F8F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92744" y="2478024"/>
            <a:ext cx="2547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692744" y="2862072"/>
            <a:ext cx="2547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Redeemed today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367528" y="3346704"/>
          <a:ext cx="6101791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 — Staff Onboarding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every piece of content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Administrators  ·  Venues · News · Press · Transport · Design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539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1E5F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2075688"/>
            <a:ext cx="347472" cy="347472"/>
          </a:xfrm>
          <a:prstGeom prst="ellipse">
            <a:avLst/>
          </a:prstGeom>
          <a:solidFill>
            <a:srgbClr val="7A2BB8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2185416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057400"/>
            <a:ext cx="447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Venues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496312"/>
            <a:ext cx="484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Add/edit/delete venues. The type sets meal rules: MMC = Lunch + Dinner; Stadium = 1 café meal; Training Site = no meals.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874520"/>
            <a:ext cx="539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F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1608" y="2075688"/>
            <a:ext cx="347472" cy="34747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3" name="Shape 11"/>
          <p:cNvSpPr/>
          <p:nvPr/>
        </p:nvSpPr>
        <p:spPr>
          <a:xfrm>
            <a:off x="6571336" y="2185416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946240" y="2057400"/>
            <a:ext cx="447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7328" y="2496312"/>
            <a:ext cx="484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Shuttle routes, times and frequencies — MMC ⇄ stadiums and training sites.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474720"/>
            <a:ext cx="539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BEFD9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3675888"/>
            <a:ext cx="347472" cy="347472"/>
          </a:xfrm>
          <a:prstGeom prst="ellipse">
            <a:avLst/>
          </a:prstGeom>
          <a:solidFill>
            <a:srgbClr val="B9710A"/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" y="3785616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3657600"/>
            <a:ext cx="447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 &amp; Categories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4096512"/>
            <a:ext cx="484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and updates with categories (Alert, Transport, Catering…) and a “pin to top”.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3008" y="3474720"/>
            <a:ext cx="539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F0F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61608" y="3675888"/>
            <a:ext cx="347472" cy="347472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571336" y="3785616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946240" y="3657600"/>
            <a:ext cx="447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7328" y="4096512"/>
            <a:ext cx="484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Conferences with date, time, room and a live status badge (Scheduled / Live / Delayed / Concluded).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056632"/>
            <a:ext cx="11057839" cy="566928"/>
          </a:xfrm>
          <a:prstGeom prst="roundRect">
            <a:avLst>
              <a:gd name="adj" fmla="val 19355"/>
            </a:avLst>
          </a:prstGeom>
          <a:solidFill>
            <a:srgbClr val="F5F8F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5056632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to the cloud. </a:t>
            </a:r>
            <a:pPr indent="0" marL="0">
              <a:buNone/>
            </a:pPr>
            <a:r>
              <a:rPr lang="en-US" sz="13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phone sees changes on its next refresh. The Design tab also lets you adjust event branding &amp; theme.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 — Staff Onboarding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doors: QR &amp; keys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Administrators  ·  onboarding media and volunteers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837944"/>
            <a:ext cx="6035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the client app with media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the poster at  afc2027-media-hub.onrender.com/share  (or Admin → Overview → Share QR).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807208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2770632"/>
            <a:ext cx="6035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volunteers the volunteer key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key for counter staff — it can only redeem vouchers.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3739896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3703320"/>
            <a:ext cx="6035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admin key close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organizers get it. It unlocks everything, including exports and content.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4672584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" y="4636008"/>
            <a:ext cx="6035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Rotate keys if they leak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ADMIN_KEY / VOLUNTEER_KEY in the host’s Environment settings; old keys stop working on restart.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863840" y="1828800"/>
            <a:ext cx="3760927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0" y="2057400"/>
            <a:ext cx="37609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to open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63840" y="237744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Media Hub client app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21344" y="278892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18854" y="2986430"/>
            <a:ext cx="350252" cy="35025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3" name="Shape 21"/>
          <p:cNvSpPr/>
          <p:nvPr/>
        </p:nvSpPr>
        <p:spPr>
          <a:xfrm>
            <a:off x="9195909" y="3063486"/>
            <a:ext cx="196141" cy="1961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244945" y="3112521"/>
            <a:ext cx="98070" cy="98070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19501" y="2986430"/>
            <a:ext cx="350252" cy="35025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96557" y="3063486"/>
            <a:ext cx="196141" cy="1961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45592" y="3112521"/>
            <a:ext cx="98070" cy="98070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8" name="Shape 26"/>
          <p:cNvSpPr/>
          <p:nvPr/>
        </p:nvSpPr>
        <p:spPr>
          <a:xfrm>
            <a:off x="9118854" y="3887078"/>
            <a:ext cx="350252" cy="35025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9" name="Shape 27"/>
          <p:cNvSpPr/>
          <p:nvPr/>
        </p:nvSpPr>
        <p:spPr>
          <a:xfrm>
            <a:off x="9195909" y="3964133"/>
            <a:ext cx="196141" cy="1961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244945" y="4013168"/>
            <a:ext cx="98070" cy="98070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1" name="Shape 29"/>
          <p:cNvSpPr/>
          <p:nvPr/>
        </p:nvSpPr>
        <p:spPr>
          <a:xfrm>
            <a:off x="9688708" y="3000329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2" name="Shape 30"/>
          <p:cNvSpPr/>
          <p:nvPr/>
        </p:nvSpPr>
        <p:spPr>
          <a:xfrm>
            <a:off x="9549719" y="3139318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3" name="Shape 31"/>
          <p:cNvSpPr/>
          <p:nvPr/>
        </p:nvSpPr>
        <p:spPr>
          <a:xfrm>
            <a:off x="9688708" y="3139318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4" name="Shape 32"/>
          <p:cNvSpPr/>
          <p:nvPr/>
        </p:nvSpPr>
        <p:spPr>
          <a:xfrm>
            <a:off x="9688708" y="3278307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5" name="Shape 33"/>
          <p:cNvSpPr/>
          <p:nvPr/>
        </p:nvSpPr>
        <p:spPr>
          <a:xfrm>
            <a:off x="9271742" y="3417296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6" name="Shape 34"/>
          <p:cNvSpPr/>
          <p:nvPr/>
        </p:nvSpPr>
        <p:spPr>
          <a:xfrm>
            <a:off x="9688708" y="3417296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05674" y="3417296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8" name="Shape 36"/>
          <p:cNvSpPr/>
          <p:nvPr/>
        </p:nvSpPr>
        <p:spPr>
          <a:xfrm>
            <a:off x="9271742" y="3556284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9" name="Shape 37"/>
          <p:cNvSpPr/>
          <p:nvPr/>
        </p:nvSpPr>
        <p:spPr>
          <a:xfrm>
            <a:off x="9410730" y="3556284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0" name="Shape 38"/>
          <p:cNvSpPr/>
          <p:nvPr/>
        </p:nvSpPr>
        <p:spPr>
          <a:xfrm>
            <a:off x="9827697" y="3556284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1" name="Shape 39"/>
          <p:cNvSpPr/>
          <p:nvPr/>
        </p:nvSpPr>
        <p:spPr>
          <a:xfrm>
            <a:off x="9966686" y="3556284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2" name="Shape 40"/>
          <p:cNvSpPr/>
          <p:nvPr/>
        </p:nvSpPr>
        <p:spPr>
          <a:xfrm>
            <a:off x="10105674" y="3556284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3" name="Shape 41"/>
          <p:cNvSpPr/>
          <p:nvPr/>
        </p:nvSpPr>
        <p:spPr>
          <a:xfrm>
            <a:off x="9132753" y="3695273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4" name="Shape 42"/>
          <p:cNvSpPr/>
          <p:nvPr/>
        </p:nvSpPr>
        <p:spPr>
          <a:xfrm>
            <a:off x="9271742" y="3695273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5" name="Shape 43"/>
          <p:cNvSpPr/>
          <p:nvPr/>
        </p:nvSpPr>
        <p:spPr>
          <a:xfrm>
            <a:off x="9410730" y="3695273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6" name="Shape 44"/>
          <p:cNvSpPr/>
          <p:nvPr/>
        </p:nvSpPr>
        <p:spPr>
          <a:xfrm>
            <a:off x="9549719" y="3695273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7" name="Shape 45"/>
          <p:cNvSpPr/>
          <p:nvPr/>
        </p:nvSpPr>
        <p:spPr>
          <a:xfrm>
            <a:off x="9688708" y="3695273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05674" y="3695273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9" name="Shape 47"/>
          <p:cNvSpPr/>
          <p:nvPr/>
        </p:nvSpPr>
        <p:spPr>
          <a:xfrm>
            <a:off x="10244663" y="3695273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0" name="Shape 48"/>
          <p:cNvSpPr/>
          <p:nvPr/>
        </p:nvSpPr>
        <p:spPr>
          <a:xfrm>
            <a:off x="9688708" y="3834262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1" name="Shape 49"/>
          <p:cNvSpPr/>
          <p:nvPr/>
        </p:nvSpPr>
        <p:spPr>
          <a:xfrm>
            <a:off x="9688708" y="3973251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2" name="Shape 50"/>
          <p:cNvSpPr/>
          <p:nvPr/>
        </p:nvSpPr>
        <p:spPr>
          <a:xfrm>
            <a:off x="9827697" y="3973251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3" name="Shape 51"/>
          <p:cNvSpPr/>
          <p:nvPr/>
        </p:nvSpPr>
        <p:spPr>
          <a:xfrm>
            <a:off x="9827697" y="4112240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05674" y="4112240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5" name="Shape 53"/>
          <p:cNvSpPr/>
          <p:nvPr/>
        </p:nvSpPr>
        <p:spPr>
          <a:xfrm>
            <a:off x="10244663" y="4112240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6" name="Shape 54"/>
          <p:cNvSpPr/>
          <p:nvPr/>
        </p:nvSpPr>
        <p:spPr>
          <a:xfrm>
            <a:off x="8092440" y="4572000"/>
            <a:ext cx="3303727" cy="384048"/>
          </a:xfrm>
          <a:prstGeom prst="roundRect">
            <a:avLst>
              <a:gd name="adj" fmla="val 50000"/>
            </a:avLst>
          </a:prstGeom>
          <a:solidFill>
            <a:srgbClr val="12274A"/>
          </a:solidFill>
          <a:ln/>
        </p:spPr>
      </p:sp>
      <p:sp>
        <p:nvSpPr>
          <p:cNvPr id="57" name="Text 55"/>
          <p:cNvSpPr/>
          <p:nvPr/>
        </p:nvSpPr>
        <p:spPr>
          <a:xfrm>
            <a:off x="8092440" y="4572000"/>
            <a:ext cx="33037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afc2027-media-hub.onrender.com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 — Staff Onboarding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TO KNOW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Tips &amp; troubleshooting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50306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221992"/>
            <a:ext cx="310896" cy="310896"/>
          </a:xfrm>
          <a:prstGeom prst="ellipse">
            <a:avLst/>
          </a:prstGeom>
          <a:solidFill>
            <a:srgbClr val="E8F0FF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2313432"/>
            <a:ext cx="128016" cy="12801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7" name="Text 5"/>
          <p:cNvSpPr/>
          <p:nvPr/>
        </p:nvSpPr>
        <p:spPr>
          <a:xfrm>
            <a:off x="1225296" y="2185416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hit may be slow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79192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free tier sleeps when idle; the first request wakes it in ~50 seconds.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4314" y="1965960"/>
            <a:ext cx="350306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914" y="2221992"/>
            <a:ext cx="310896" cy="310896"/>
          </a:xfrm>
          <a:prstGeom prst="ellipse">
            <a:avLst/>
          </a:prstGeom>
          <a:solidFill>
            <a:srgbClr val="E8F0FF"/>
          </a:solidFill>
          <a:ln/>
        </p:spPr>
      </p:sp>
      <p:sp>
        <p:nvSpPr>
          <p:cNvPr id="11" name="Shape 9"/>
          <p:cNvSpPr/>
          <p:nvPr/>
        </p:nvSpPr>
        <p:spPr>
          <a:xfrm>
            <a:off x="4664354" y="2313432"/>
            <a:ext cx="128016" cy="12801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02682" y="2185416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 up regularly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0346" y="2679192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CSV gives you a full record of all vouchers.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1701" y="1965960"/>
            <a:ext cx="350306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0301" y="2221992"/>
            <a:ext cx="310896" cy="310896"/>
          </a:xfrm>
          <a:prstGeom prst="ellipse">
            <a:avLst/>
          </a:prstGeom>
          <a:solidFill>
            <a:srgbClr val="E8F0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441741" y="2313432"/>
            <a:ext cx="128016" cy="12801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7" name="Text 15"/>
          <p:cNvSpPr/>
          <p:nvPr/>
        </p:nvSpPr>
        <p:spPr>
          <a:xfrm>
            <a:off x="8780069" y="2185416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survives restarts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77733" y="2679192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is stored in the cloud database, not on the device.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40480"/>
            <a:ext cx="350306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5528" y="4096512"/>
            <a:ext cx="310896" cy="310896"/>
          </a:xfrm>
          <a:prstGeom prst="ellipse">
            <a:avLst/>
          </a:prstGeom>
          <a:solidFill>
            <a:srgbClr val="E8F0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86968" y="4187952"/>
            <a:ext cx="128016" cy="12801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25296" y="4059936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reset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553712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Voucher limits reset at the event’s local midnight (Asia/Riyadh).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4314" y="3840480"/>
            <a:ext cx="350306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914" y="4096512"/>
            <a:ext cx="310896" cy="310896"/>
          </a:xfrm>
          <a:prstGeom prst="ellipse">
            <a:avLst/>
          </a:prstGeom>
          <a:solidFill>
            <a:srgbClr val="E8F0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4354" y="4187952"/>
            <a:ext cx="128016" cy="12801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02682" y="4059936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Limits are server-side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00346" y="4553712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Incognito mode or clearing the cache cannot bypass daily allowances.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21701" y="3840480"/>
            <a:ext cx="350306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0301" y="4096512"/>
            <a:ext cx="310896" cy="310896"/>
          </a:xfrm>
          <a:prstGeom prst="ellipse">
            <a:avLst/>
          </a:prstGeom>
          <a:solidFill>
            <a:srgbClr val="E8F0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441741" y="4187952"/>
            <a:ext cx="128016" cy="12801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32" name="Text 30"/>
          <p:cNvSpPr/>
          <p:nvPr/>
        </p:nvSpPr>
        <p:spPr>
          <a:xfrm>
            <a:off x="8780069" y="4059936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Volunteers are contained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77733" y="4553712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volunteer key is rejected on every admin endpoint except redemption.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 — Staff Onboarding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6BE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Volunteers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run the buffet counter — scan, redeem, keep the queue moving.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43E3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FF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login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79776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43E30"/>
          </a:solidFill>
          <a:ln/>
        </p:spPr>
      </p:sp>
      <p:sp>
        <p:nvSpPr>
          <p:cNvPr id="10" name="Text 8"/>
          <p:cNvSpPr/>
          <p:nvPr/>
        </p:nvSpPr>
        <p:spPr>
          <a:xfrm>
            <a:off x="2944368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44368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FF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your key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92624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43E30"/>
          </a:solidFill>
          <a:ln/>
        </p:spPr>
      </p:sp>
      <p:sp>
        <p:nvSpPr>
          <p:cNvPr id="13" name="Text 11"/>
          <p:cNvSpPr/>
          <p:nvPr/>
        </p:nvSpPr>
        <p:spPr>
          <a:xfrm>
            <a:off x="5157216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57216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FF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or type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05472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43E30"/>
          </a:solidFill>
          <a:ln/>
        </p:spPr>
      </p:sp>
      <p:sp>
        <p:nvSpPr>
          <p:cNvPr id="16" name="Text 14"/>
          <p:cNvSpPr/>
          <p:nvPr/>
        </p:nvSpPr>
        <p:spPr>
          <a:xfrm>
            <a:off x="7370064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70064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FF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result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18320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43E30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912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582912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FF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 when done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 — Staff Onboarding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with your volunteer key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Volunteers  ·  any phone or tablet works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88366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staff login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afc2027-media-hub.onrender.com/admin  — on the counter tablet or your own phone.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88036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284378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the volunteer key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shift lead gives it to you. Don’t share it outside the team.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384048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380390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land in the Redeemer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It’s the only tab you’ll see — that’s expected.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0" y="1828800"/>
            <a:ext cx="5223967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1865376"/>
            <a:ext cx="5187391" cy="420624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601968" y="201168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Shape 16"/>
          <p:cNvSpPr/>
          <p:nvPr/>
        </p:nvSpPr>
        <p:spPr>
          <a:xfrm>
            <a:off x="6803136" y="2011680"/>
            <a:ext cx="109728" cy="109728"/>
          </a:xfrm>
          <a:prstGeom prst="ellipse">
            <a:avLst/>
          </a:prstGeom>
          <a:solidFill>
            <a:srgbClr val="F9C23C"/>
          </a:solidFill>
          <a:ln/>
        </p:spPr>
      </p:sp>
      <p:sp>
        <p:nvSpPr>
          <p:cNvPr id="19" name="Shape 17"/>
          <p:cNvSpPr/>
          <p:nvPr/>
        </p:nvSpPr>
        <p:spPr>
          <a:xfrm>
            <a:off x="7004304" y="2011680"/>
            <a:ext cx="109728" cy="109728"/>
          </a:xfrm>
          <a:prstGeom prst="ellipse">
            <a:avLst/>
          </a:prstGeom>
          <a:solidFill>
            <a:srgbClr val="3FBF6A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1947672"/>
            <a:ext cx="40352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1947672"/>
            <a:ext cx="38523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afc2027-media-hub.onrender.com/admin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01968" y="2478024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23" name="Text 21"/>
          <p:cNvSpPr/>
          <p:nvPr/>
        </p:nvSpPr>
        <p:spPr>
          <a:xfrm>
            <a:off x="6601968" y="247802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Redeemer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47688" y="2980944"/>
            <a:ext cx="47301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Redeem a voucher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47688" y="3392424"/>
            <a:ext cx="4730191" cy="1005840"/>
          </a:xfrm>
          <a:prstGeom prst="roundRect">
            <a:avLst>
              <a:gd name="adj" fmla="val 9091"/>
            </a:avLst>
          </a:prstGeom>
          <a:solidFill>
            <a:srgbClr val="F5F8F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3392424"/>
            <a:ext cx="436443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Point the camera at the QR code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47688" y="4535424"/>
            <a:ext cx="3724351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4535424"/>
            <a:ext cx="3450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MV-3LWU13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463479" y="4535424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0E9F6E"/>
          </a:solidFill>
          <a:ln/>
        </p:spPr>
      </p:sp>
      <p:sp>
        <p:nvSpPr>
          <p:cNvPr id="30" name="Text 28"/>
          <p:cNvSpPr/>
          <p:nvPr/>
        </p:nvSpPr>
        <p:spPr>
          <a:xfrm>
            <a:off x="10463479" y="45354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Redeem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5120640"/>
            <a:ext cx="5852160" cy="457200"/>
          </a:xfrm>
          <a:prstGeom prst="roundRect">
            <a:avLst>
              <a:gd name="adj" fmla="val 50000"/>
            </a:avLst>
          </a:prstGeom>
          <a:solidFill>
            <a:srgbClr val="E2F6EE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51206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Seeing only one tab is by design — your key is scoped to redemption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 — Staff Onboarding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Redeem a voucher in seconds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Volunteers  ·  the Redeemer tab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83794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for the voucher QR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guest opens it in the Media Hub app on their phone.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78892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275234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it — or type the ID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device camera; if it won’t scan, type the code under the QR (e.g. MV-3LWU13).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370332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366674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 on green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“MEAL VALID” → hand over the meal. The guest’s badge flips to Redeemed instantly.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92240" y="1828800"/>
            <a:ext cx="5132527" cy="1417320"/>
          </a:xfrm>
          <a:prstGeom prst="roundRect">
            <a:avLst>
              <a:gd name="adj" fmla="val 7742"/>
            </a:avLst>
          </a:prstGeom>
          <a:solidFill>
            <a:srgbClr val="E2F6EE"/>
          </a:solidFill>
          <a:ln w="12700">
            <a:solidFill>
              <a:srgbClr val="BCE6C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2240280"/>
            <a:ext cx="594360" cy="59436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221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98080" y="2103120"/>
            <a:ext cx="39438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6E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— MEAL VALID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98080" y="2542032"/>
            <a:ext cx="39438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6E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 the meal — voucher is now marked Redeemed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3429000"/>
            <a:ext cx="5132527" cy="1417320"/>
          </a:xfrm>
          <a:prstGeom prst="roundRect">
            <a:avLst>
              <a:gd name="adj" fmla="val 7742"/>
            </a:avLst>
          </a:prstGeom>
          <a:solidFill>
            <a:srgbClr val="FDE6E6"/>
          </a:solidFill>
          <a:ln w="12700">
            <a:solidFill>
              <a:srgbClr val="F3C4C4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3840480"/>
            <a:ext cx="594360" cy="594360"/>
          </a:xfrm>
          <a:prstGeom prst="ellipse">
            <a:avLst/>
          </a:prstGeom>
          <a:solidFill>
            <a:srgbClr val="D1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8221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98080" y="3703320"/>
            <a:ext cx="39438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D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 — ALREADY REDEEMED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498080" y="4142232"/>
            <a:ext cx="39438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Politely decline — it shows when it was first used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4983480"/>
            <a:ext cx="5852160" cy="457200"/>
          </a:xfrm>
          <a:prstGeom prst="roundRect">
            <a:avLst>
              <a:gd name="adj" fmla="val 50000"/>
            </a:avLst>
          </a:prstGeom>
          <a:solidFill>
            <a:srgbClr val="E2F6EE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983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 scanning works best on Android Chrome — typing the ID always works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 — Staff Onboarding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Counter playbook — common situations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Volunteers  ·  what to do when…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503066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8F0F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2093976"/>
            <a:ext cx="329184" cy="329184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19456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43584" y="2057400"/>
            <a:ext cx="2634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won’t scan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532888"/>
            <a:ext cx="30001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the guest to raise the screen brightness, or just type the Voucher ID printed under the QR.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874520"/>
            <a:ext cx="3503066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D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914" y="2093976"/>
            <a:ext cx="329184" cy="329184"/>
          </a:xfrm>
          <a:prstGeom prst="ellipse">
            <a:avLst/>
          </a:prstGeom>
          <a:solidFill>
            <a:srgbClr val="D12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4673498" y="219456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0970" y="2057400"/>
            <a:ext cx="2634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“Already redeemed”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00346" y="2532888"/>
            <a:ext cx="30001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Someone used it earlier — the warning shows the original time. Politely decline; direct disputes to a supervisor.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1701" y="1874520"/>
            <a:ext cx="3503066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F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0301" y="2093976"/>
            <a:ext cx="329184" cy="32918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8" name="Shape 16"/>
          <p:cNvSpPr/>
          <p:nvPr/>
        </p:nvSpPr>
        <p:spPr>
          <a:xfrm>
            <a:off x="8450885" y="219456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798357" y="2057400"/>
            <a:ext cx="2634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Guest closed the app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77733" y="2532888"/>
            <a:ext cx="30001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problem: their vouchers are saved. In the Voucher tab, “Your vouchers — today” lists every QR until midnight.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3503066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1E5F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5528" y="4059936"/>
            <a:ext cx="329184" cy="329184"/>
          </a:xfrm>
          <a:prstGeom prst="ellipse">
            <a:avLst/>
          </a:prstGeom>
          <a:solidFill>
            <a:srgbClr val="7A2BB8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41605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243584" y="4023360"/>
            <a:ext cx="2634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phone / no voucher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498848"/>
            <a:ext cx="30001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can re-open vouchers on any device by entering their email — or request one if they still have allowance.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4314" y="3840480"/>
            <a:ext cx="3503066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BEFD9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914" y="4059936"/>
            <a:ext cx="329184" cy="329184"/>
          </a:xfrm>
          <a:prstGeom prst="ellipse">
            <a:avLst/>
          </a:prstGeom>
          <a:solidFill>
            <a:srgbClr val="B9710A"/>
          </a:solidFill>
          <a:ln/>
        </p:spPr>
      </p:sp>
      <p:sp>
        <p:nvSpPr>
          <p:cNvPr id="28" name="Shape 26"/>
          <p:cNvSpPr/>
          <p:nvPr/>
        </p:nvSpPr>
        <p:spPr>
          <a:xfrm>
            <a:off x="4673498" y="41605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0970" y="4023360"/>
            <a:ext cx="2634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Voucher says Expired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600346" y="4498848"/>
            <a:ext cx="30001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Vouchers are valid only on the day they were issued. Yesterday’s voucher cannot be redeemed.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21701" y="3840480"/>
            <a:ext cx="3503066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8F0F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50301" y="4059936"/>
            <a:ext cx="329184" cy="329184"/>
          </a:xfrm>
          <a:prstGeom prst="ellipse">
            <a:avLst/>
          </a:prstGeom>
          <a:solidFill>
            <a:srgbClr val="12274A"/>
          </a:solidFill>
          <a:ln/>
        </p:spPr>
      </p:sp>
      <p:sp>
        <p:nvSpPr>
          <p:cNvPr id="33" name="Shape 31"/>
          <p:cNvSpPr/>
          <p:nvPr/>
        </p:nvSpPr>
        <p:spPr>
          <a:xfrm>
            <a:off x="8450885" y="41605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798357" y="4023360"/>
            <a:ext cx="2634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Leaving the counter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377733" y="4498848"/>
            <a:ext cx="30001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Lock to sign out, especially on a shared tablet. Sign back in with the same volunteer key.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 — Staff Onboarding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FA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this handy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5349240" cy="2743200"/>
          </a:xfrm>
          <a:prstGeom prst="roundRect">
            <a:avLst>
              <a:gd name="adj" fmla="val 4667"/>
            </a:avLst>
          </a:prstGeom>
          <a:solidFill>
            <a:srgbClr val="17305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359152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3591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301752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4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Login: 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afc2027-media-hub.onrender.com/admin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4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  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private ADMIN key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4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Export: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 → Export CSV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4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Share: 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afc2027-media-hub.onrender.com/share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5527" y="2103120"/>
            <a:ext cx="5349240" cy="2743200"/>
          </a:xfrm>
          <a:prstGeom prst="roundRect">
            <a:avLst>
              <a:gd name="adj" fmla="val 4667"/>
            </a:avLst>
          </a:prstGeom>
          <a:solidFill>
            <a:srgbClr val="143E30"/>
          </a:solidFill>
          <a:ln/>
        </p:spPr>
      </p:sp>
      <p:sp>
        <p:nvSpPr>
          <p:cNvPr id="9" name="Shape 7"/>
          <p:cNvSpPr/>
          <p:nvPr/>
        </p:nvSpPr>
        <p:spPr>
          <a:xfrm>
            <a:off x="6549847" y="2359152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6549847" y="23591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Volunteers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41287" y="301752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C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Login: 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afc2027-media-hub.onrender.com/admin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C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  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shared VOLUNTEER key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C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Green: 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 VALID → serve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C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Red:   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already used → decline politely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51663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You’re ready — thank you for feeding the world’s media.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 — Staff Onboarding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 Hub — Admin &amp; Volunteer Onboarding</dc:title>
  <dc:subject>PptxGenJS Presentation</dc:subject>
  <dc:creator>AFC Asian Cup 2027 Media Operations</dc:creator>
  <cp:lastModifiedBy>AFC Asian Cup 2027 Media Operations</cp:lastModifiedBy>
  <cp:revision>1</cp:revision>
  <dcterms:created xsi:type="dcterms:W3CDTF">2026-07-04T19:17:54Z</dcterms:created>
  <dcterms:modified xsi:type="dcterms:W3CDTF">2026-07-04T19:17:54Z</dcterms:modified>
</cp:coreProperties>
</file>